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notesMasterIdLst>
    <p:notesMasterId r:id="rId26"/>
  </p:notesMasterIdLst>
  <p:sldIdLst>
    <p:sldId id="256" r:id="rId27"/>
    <p:sldId id="257" r:id="rId28"/>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notesMaster" Target="notesMasters/notesMaster1.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5.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Arial"/>
              </a:rPr>
              <a:t>Click to move the slide</a:t>
            </a:r>
            <a:endParaRPr b="0" lang="en-US" sz="1800" spc="-1" strike="noStrike">
              <a:solidFill>
                <a:schemeClr val="dk1"/>
              </a:solidFill>
              <a:latin typeface="Arial"/>
            </a:endParaRPr>
          </a:p>
        </p:txBody>
      </p:sp>
      <p:sp>
        <p:nvSpPr>
          <p:cNvPr id="24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25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25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5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5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2CDCE10-765D-4DDA-9775-61F47AFDCF0E}"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body"/>
          </p:nvPr>
        </p:nvSpPr>
        <p:spPr>
          <a:xfrm>
            <a:off x="685800" y="4343400"/>
            <a:ext cx="5485680" cy="4114080"/>
          </a:xfrm>
          <a:prstGeom prst="rect">
            <a:avLst/>
          </a:prstGeom>
          <a:noFill/>
          <a:ln w="0">
            <a:noFill/>
          </a:ln>
        </p:spPr>
        <p:txBody>
          <a:bodyPr lIns="0" rIns="0" tIns="91440" bIns="91440" anchor="t">
            <a:noAutofit/>
          </a:bodyPr>
          <a:p>
            <a:pPr marL="216000" indent="0">
              <a:lnSpc>
                <a:spcPct val="100000"/>
              </a:lnSpc>
              <a:buNone/>
              <a:tabLst>
                <a:tab algn="l" pos="0"/>
              </a:tabLst>
            </a:pPr>
            <a:r>
              <a:rPr b="0" lang="en-US" sz="1100" spc="-1" strike="noStrike">
                <a:solidFill>
                  <a:srgbClr val="000000"/>
                </a:solidFill>
                <a:latin typeface="Arial"/>
              </a:rPr>
              <a:t>(U) The Government is interested in exploring the potential of GPU acceleration to reduce SAR image formation processing timelines. This effort aims to leverage the parallel processing capabilities of GPUs, to develop innovative software solutions that can efficiently handle the computational demands of SAR image formation, ultimately enabling near-real-time intelligence dissemination from space-based assets. The Government seeks proposals for ground-based software solutions that can demonstrate substantial improvements in processing speed while maintaining or enhancing image quality, thereby supporting timely decision-making requirements.</a:t>
            </a:r>
            <a:endParaRPr b="0" lang="en-US" sz="1100" spc="-1" strike="noStrike">
              <a:solidFill>
                <a:srgbClr val="000000"/>
              </a:solidFill>
              <a:latin typeface="Arial"/>
            </a:endParaRPr>
          </a:p>
          <a:p>
            <a:pPr marL="216000" indent="0">
              <a:lnSpc>
                <a:spcPct val="100000"/>
              </a:lnSpc>
              <a:buNone/>
              <a:tabLst>
                <a:tab algn="l" pos="0"/>
              </a:tabLst>
            </a:pPr>
            <a:r>
              <a:rPr b="0" lang="en-US" sz="1100" spc="-1" strike="noStrike">
                <a:solidFill>
                  <a:srgbClr val="000000"/>
                </a:solidFill>
                <a:latin typeface="Arial"/>
              </a:rPr>
              <a:t>(U//FOUO) Objectives: 1. Implement and optimize SAR image formation algorithms for GPU architectures achieving Threshold Performance: Processing time of 45 seconds (plus others). 2. Conduct comprehensive performance analysis to characterize data movement patterns and bottlenecks within GPU processing units (plus others). 3. Evaluate image quality metrics in comparison to load level RRS-E processing to ensure suitability for downstream ATR applications, including Clutter-to-Noise Ratio (plus others). 4. Explain trade space considerations and perform trade studies examining the interdependencies of: Algorithm selection (e.g. Polar Formatting, Chirp Scaling, Omega-K, Backprojection, Range Migration, etc.) (plus others).</a:t>
            </a:r>
            <a:endParaRPr b="0" lang="en-US" sz="1100" spc="-1" strike="noStrike">
              <a:solidFill>
                <a:srgbClr val="000000"/>
              </a:solidFill>
              <a:latin typeface="Arial"/>
            </a:endParaRPr>
          </a:p>
        </p:txBody>
      </p:sp>
      <p:sp>
        <p:nvSpPr>
          <p:cNvPr id="298" name="PlaceHolder 2"/>
          <p:cNvSpPr>
            <a:spLocks noGrp="1"/>
          </p:cNvSpPr>
          <p:nvPr>
            <p:ph type="sldImg"/>
          </p:nvPr>
        </p:nvSpPr>
        <p:spPr>
          <a:xfrm>
            <a:off x="1143000" y="685800"/>
            <a:ext cx="4571640" cy="3428640"/>
          </a:xfrm>
          <a:prstGeom prst="rect">
            <a:avLst/>
          </a:prstGeom>
          <a:ln w="0">
            <a:noFill/>
          </a:ln>
        </p:spPr>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16"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17"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2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3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3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32"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5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6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7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7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9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9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9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10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10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110"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12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12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123"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13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140"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141"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15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15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155"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156"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176"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5">
    <p:spTree>
      <p:nvGrpSpPr>
        <p:cNvPr id="1" name=""/>
        <p:cNvGrpSpPr/>
        <p:nvPr/>
      </p:nvGrpSpPr>
      <p:grpSpPr>
        <a:xfrm>
          <a:off x="0" y="0"/>
          <a:ext cx="0" cy="0"/>
          <a:chOff x="0" y="0"/>
          <a:chExt cx="0" cy="0"/>
        </a:xfrm>
      </p:grpSpPr>
      <p:sp>
        <p:nvSpPr>
          <p:cNvPr id="18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18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6">
    <p:spTree>
      <p:nvGrpSpPr>
        <p:cNvPr id="1" name=""/>
        <p:cNvGrpSpPr/>
        <p:nvPr/>
      </p:nvGrpSpPr>
      <p:grpSpPr>
        <a:xfrm>
          <a:off x="0" y="0"/>
          <a:ext cx="0" cy="0"/>
          <a:chOff x="0" y="0"/>
          <a:chExt cx="0" cy="0"/>
        </a:xfrm>
      </p:grpSpPr>
      <p:sp>
        <p:nvSpPr>
          <p:cNvPr id="19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19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19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7">
    <p:spTree>
      <p:nvGrpSpPr>
        <p:cNvPr id="1" name=""/>
        <p:cNvGrpSpPr/>
        <p:nvPr/>
      </p:nvGrpSpPr>
      <p:grpSpPr>
        <a:xfrm>
          <a:off x="0" y="0"/>
          <a:ext cx="0" cy="0"/>
          <a:chOff x="0" y="0"/>
          <a:chExt cx="0" cy="0"/>
        </a:xfrm>
      </p:grpSpPr>
      <p:sp>
        <p:nvSpPr>
          <p:cNvPr id="20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8">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9">
    <p:spTree>
      <p:nvGrpSpPr>
        <p:cNvPr id="1" name=""/>
        <p:cNvGrpSpPr/>
        <p:nvPr/>
      </p:nvGrpSpPr>
      <p:grpSpPr>
        <a:xfrm>
          <a:off x="0" y="0"/>
          <a:ext cx="0" cy="0"/>
          <a:chOff x="0" y="0"/>
          <a:chExt cx="0" cy="0"/>
        </a:xfrm>
      </p:grpSpPr>
      <p:sp>
        <p:nvSpPr>
          <p:cNvPr id="2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21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220"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22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0">
    <p:spTree>
      <p:nvGrpSpPr>
        <p:cNvPr id="1" name=""/>
        <p:cNvGrpSpPr/>
        <p:nvPr/>
      </p:nvGrpSpPr>
      <p:grpSpPr>
        <a:xfrm>
          <a:off x="0" y="0"/>
          <a:ext cx="0" cy="0"/>
          <a:chOff x="0" y="0"/>
          <a:chExt cx="0" cy="0"/>
        </a:xfrm>
      </p:grpSpPr>
      <p:sp>
        <p:nvSpPr>
          <p:cNvPr id="23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23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23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234"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1">
    <p:spTree>
      <p:nvGrpSpPr>
        <p:cNvPr id="1" name=""/>
        <p:cNvGrpSpPr/>
        <p:nvPr/>
      </p:nvGrpSpPr>
      <p:grpSpPr>
        <a:xfrm>
          <a:off x="0" y="0"/>
          <a:ext cx="0" cy="0"/>
          <a:chOff x="0" y="0"/>
          <a:chExt cx="0" cy="0"/>
        </a:xfrm>
      </p:grpSpPr>
      <p:sp>
        <p:nvSpPr>
          <p:cNvPr id="24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24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24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
        <p:nvSpPr>
          <p:cNvPr id="24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1" Type="http://schemas.openxmlformats.org/officeDocument/2006/relationships/theme" Target="../theme/theme2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Picture 6" descr=""/>
          <p:cNvPicPr/>
          <p:nvPr/>
        </p:nvPicPr>
        <p:blipFill>
          <a:blip r:embed="rId2"/>
          <a:stretch/>
        </p:blipFill>
        <p:spPr>
          <a:xfrm>
            <a:off x="0" y="6409800"/>
            <a:ext cx="9152640" cy="456840"/>
          </a:xfrm>
          <a:prstGeom prst="rect">
            <a:avLst/>
          </a:prstGeom>
          <a:ln w="0">
            <a:noFill/>
          </a:ln>
        </p:spPr>
      </p:pic>
      <p:sp>
        <p:nvSpPr>
          <p:cNvPr id="1"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E7FD654D-71E7-4565-AF26-1FD9C0D369FF}"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3"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4" name="Picture 5" descr=""/>
          <p:cNvPicPr/>
          <p:nvPr/>
        </p:nvPicPr>
        <p:blipFill>
          <a:blip r:embed="rId3"/>
          <a:stretch/>
        </p:blipFill>
        <p:spPr>
          <a:xfrm>
            <a:off x="6438240" y="6461280"/>
            <a:ext cx="2248920" cy="338040"/>
          </a:xfrm>
          <a:prstGeom prst="rect">
            <a:avLst/>
          </a:prstGeom>
          <a:ln w="0">
            <a:noFill/>
          </a:ln>
        </p:spPr>
      </p:pic>
      <p:sp>
        <p:nvSpPr>
          <p:cNvPr id="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rial"/>
              </a:rPr>
              <a:t>Click to edit the title text format</a:t>
            </a:r>
            <a:endParaRPr b="0" lang="en-US" sz="1800" spc="-1" strike="noStrike">
              <a:solidFill>
                <a:schemeClr val="dk1"/>
              </a:solidFill>
              <a:latin typeface="Arial"/>
            </a:endParaRPr>
          </a:p>
        </p:txBody>
      </p:sp>
      <p:sp>
        <p:nvSpPr>
          <p:cNvPr id="6"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Arial"/>
              </a:rPr>
              <a:t>Click to edit the outline text format</a:t>
            </a:r>
            <a:endParaRPr b="0" lang="en-US" sz="2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Arial"/>
              </a:rPr>
              <a:t>Second Outline Level</a:t>
            </a:r>
            <a:endParaRPr b="0" lang="en-US" sz="20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rial"/>
              </a:rPr>
              <a:t>Fifth Outline Level</a:t>
            </a:r>
            <a:endParaRPr b="0" lang="en-US" sz="20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rial"/>
              </a:rPr>
              <a:t>Sixth Outline Level</a:t>
            </a:r>
            <a:endParaRPr b="0" lang="en-US" sz="20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rial"/>
              </a:rPr>
              <a:t>Seventh Outline Level</a:t>
            </a:r>
            <a:endParaRPr b="0" lang="en-US"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 name="Picture 6" descr=""/>
          <p:cNvPicPr/>
          <p:nvPr/>
        </p:nvPicPr>
        <p:blipFill>
          <a:blip r:embed="rId2"/>
          <a:stretch/>
        </p:blipFill>
        <p:spPr>
          <a:xfrm>
            <a:off x="0" y="6409800"/>
            <a:ext cx="9152640" cy="456840"/>
          </a:xfrm>
          <a:prstGeom prst="rect">
            <a:avLst/>
          </a:prstGeom>
          <a:ln w="0">
            <a:noFill/>
          </a:ln>
        </p:spPr>
      </p:pic>
      <p:sp>
        <p:nvSpPr>
          <p:cNvPr id="8"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54C56FA3-0596-460B-9A48-2BB93E1D1B6D}"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10"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11" name="Picture 5" descr=""/>
          <p:cNvPicPr/>
          <p:nvPr/>
        </p:nvPicPr>
        <p:blipFill>
          <a:blip r:embed="rId3"/>
          <a:stretch/>
        </p:blipFill>
        <p:spPr>
          <a:xfrm>
            <a:off x="6438240" y="6461280"/>
            <a:ext cx="2248920" cy="338040"/>
          </a:xfrm>
          <a:prstGeom prst="rect">
            <a:avLst/>
          </a:prstGeom>
          <a:ln w="0">
            <a:noFill/>
          </a:ln>
        </p:spPr>
      </p:pic>
      <p:sp>
        <p:nvSpPr>
          <p:cNvPr id="12"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13"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81111"/>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4"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81111"/>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 name="Picture 6" descr=""/>
          <p:cNvPicPr/>
          <p:nvPr/>
        </p:nvPicPr>
        <p:blipFill>
          <a:blip r:embed="rId2"/>
          <a:stretch/>
        </p:blipFill>
        <p:spPr>
          <a:xfrm>
            <a:off x="0" y="6409800"/>
            <a:ext cx="9152640" cy="456840"/>
          </a:xfrm>
          <a:prstGeom prst="rect">
            <a:avLst/>
          </a:prstGeom>
          <a:ln w="0">
            <a:noFill/>
          </a:ln>
        </p:spPr>
      </p:pic>
      <p:sp>
        <p:nvSpPr>
          <p:cNvPr id="19"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1B7A5628-C422-4025-972C-AD887943B009}"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21"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22" name="Picture 5" descr=""/>
          <p:cNvPicPr/>
          <p:nvPr/>
        </p:nvPicPr>
        <p:blipFill>
          <a:blip r:embed="rId3"/>
          <a:stretch/>
        </p:blipFill>
        <p:spPr>
          <a:xfrm>
            <a:off x="6438240" y="6461280"/>
            <a:ext cx="2248920" cy="338040"/>
          </a:xfrm>
          <a:prstGeom prst="rect">
            <a:avLst/>
          </a:prstGeom>
          <a:ln w="0">
            <a:noFill/>
          </a:ln>
        </p:spPr>
      </p:pic>
      <p:sp>
        <p:nvSpPr>
          <p:cNvPr id="23"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24"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25"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26"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27"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3" name="Picture 6" descr=""/>
          <p:cNvPicPr/>
          <p:nvPr/>
        </p:nvPicPr>
        <p:blipFill>
          <a:blip r:embed="rId2"/>
          <a:stretch/>
        </p:blipFill>
        <p:spPr>
          <a:xfrm>
            <a:off x="0" y="6409800"/>
            <a:ext cx="9152640" cy="456840"/>
          </a:xfrm>
          <a:prstGeom prst="rect">
            <a:avLst/>
          </a:prstGeom>
          <a:ln w="0">
            <a:noFill/>
          </a:ln>
        </p:spPr>
      </p:pic>
      <p:sp>
        <p:nvSpPr>
          <p:cNvPr id="34"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1161F64C-47EA-43D7-9D87-8F0B920C033D}"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36"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37" name="Picture 5" descr=""/>
          <p:cNvPicPr/>
          <p:nvPr/>
        </p:nvPicPr>
        <p:blipFill>
          <a:blip r:embed="rId3"/>
          <a:stretch/>
        </p:blipFill>
        <p:spPr>
          <a:xfrm>
            <a:off x="6438240" y="6461280"/>
            <a:ext cx="2248920" cy="338040"/>
          </a:xfrm>
          <a:prstGeom prst="rect">
            <a:avLst/>
          </a:prstGeom>
          <a:ln w="0">
            <a:noFill/>
          </a:ln>
        </p:spPr>
      </p:pic>
      <p:sp>
        <p:nvSpPr>
          <p:cNvPr id="38"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39" name="PlaceHolder 2"/>
          <p:cNvSpPr>
            <a:spLocks noGrp="1"/>
          </p:cNvSpPr>
          <p:nvPr>
            <p:ph type="body"/>
          </p:nvPr>
        </p:nvSpPr>
        <p:spPr>
          <a:xfrm>
            <a:off x="457200" y="1604520"/>
            <a:ext cx="2649240" cy="1896480"/>
          </a:xfrm>
          <a:prstGeom prst="rect">
            <a:avLst/>
          </a:prstGeom>
          <a:noFill/>
          <a:ln w="0">
            <a:noFill/>
          </a:ln>
        </p:spPr>
        <p:txBody>
          <a:bodyPr lIns="0" rIns="0" tIns="0" bIns="0" anchor="t">
            <a:normAutofit fontScale="18333"/>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40" name="PlaceHolder 3"/>
          <p:cNvSpPr>
            <a:spLocks noGrp="1"/>
          </p:cNvSpPr>
          <p:nvPr>
            <p:ph type="body"/>
          </p:nvPr>
        </p:nvSpPr>
        <p:spPr>
          <a:xfrm>
            <a:off x="3239640" y="1604520"/>
            <a:ext cx="2649240" cy="1896480"/>
          </a:xfrm>
          <a:prstGeom prst="rect">
            <a:avLst/>
          </a:prstGeom>
          <a:noFill/>
          <a:ln w="0">
            <a:noFill/>
          </a:ln>
        </p:spPr>
        <p:txBody>
          <a:bodyPr lIns="0" rIns="0" tIns="0" bIns="0" anchor="t">
            <a:normAutofit fontScale="18333"/>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41" name="PlaceHolder 4"/>
          <p:cNvSpPr>
            <a:spLocks noGrp="1"/>
          </p:cNvSpPr>
          <p:nvPr>
            <p:ph type="body"/>
          </p:nvPr>
        </p:nvSpPr>
        <p:spPr>
          <a:xfrm>
            <a:off x="6022080" y="1604520"/>
            <a:ext cx="2649240" cy="1896480"/>
          </a:xfrm>
          <a:prstGeom prst="rect">
            <a:avLst/>
          </a:prstGeom>
          <a:noFill/>
          <a:ln w="0">
            <a:noFill/>
          </a:ln>
        </p:spPr>
        <p:txBody>
          <a:bodyPr lIns="0" rIns="0" tIns="0" bIns="0" anchor="t">
            <a:normAutofit fontScale="18333"/>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42" name="PlaceHolder 5"/>
          <p:cNvSpPr>
            <a:spLocks noGrp="1"/>
          </p:cNvSpPr>
          <p:nvPr>
            <p:ph type="body"/>
          </p:nvPr>
        </p:nvSpPr>
        <p:spPr>
          <a:xfrm>
            <a:off x="457200" y="3682080"/>
            <a:ext cx="2649240" cy="1896480"/>
          </a:xfrm>
          <a:prstGeom prst="rect">
            <a:avLst/>
          </a:prstGeom>
          <a:noFill/>
          <a:ln w="0">
            <a:noFill/>
          </a:ln>
        </p:spPr>
        <p:txBody>
          <a:bodyPr lIns="0" rIns="0" tIns="0" bIns="0" anchor="t">
            <a:normAutofit fontScale="18333"/>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43" name="PlaceHolder 6"/>
          <p:cNvSpPr>
            <a:spLocks noGrp="1"/>
          </p:cNvSpPr>
          <p:nvPr>
            <p:ph type="body"/>
          </p:nvPr>
        </p:nvSpPr>
        <p:spPr>
          <a:xfrm>
            <a:off x="3239640" y="3682080"/>
            <a:ext cx="2649240" cy="1896480"/>
          </a:xfrm>
          <a:prstGeom prst="rect">
            <a:avLst/>
          </a:prstGeom>
          <a:noFill/>
          <a:ln w="0">
            <a:noFill/>
          </a:ln>
        </p:spPr>
        <p:txBody>
          <a:bodyPr lIns="0" rIns="0" tIns="0" bIns="0" anchor="t">
            <a:normAutofit fontScale="18333"/>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44" name="PlaceHolder 7"/>
          <p:cNvSpPr>
            <a:spLocks noGrp="1"/>
          </p:cNvSpPr>
          <p:nvPr>
            <p:ph type="body"/>
          </p:nvPr>
        </p:nvSpPr>
        <p:spPr>
          <a:xfrm>
            <a:off x="6022080" y="3682080"/>
            <a:ext cx="2649240" cy="1896480"/>
          </a:xfrm>
          <a:prstGeom prst="rect">
            <a:avLst/>
          </a:prstGeom>
          <a:noFill/>
          <a:ln w="0">
            <a:noFill/>
          </a:ln>
        </p:spPr>
        <p:txBody>
          <a:bodyPr lIns="0" rIns="0" tIns="0" bIns="0" anchor="t">
            <a:normAutofit fontScale="18333"/>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5" name="Picture 6" descr=""/>
          <p:cNvPicPr/>
          <p:nvPr/>
        </p:nvPicPr>
        <p:blipFill>
          <a:blip r:embed="rId2"/>
          <a:stretch/>
        </p:blipFill>
        <p:spPr>
          <a:xfrm>
            <a:off x="0" y="6409800"/>
            <a:ext cx="9152640" cy="456840"/>
          </a:xfrm>
          <a:prstGeom prst="rect">
            <a:avLst/>
          </a:prstGeom>
          <a:ln w="0">
            <a:noFill/>
          </a:ln>
        </p:spPr>
      </p:pic>
      <p:sp>
        <p:nvSpPr>
          <p:cNvPr id="46"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D3BEBAA9-64D0-41EB-A601-6144F037BCE1}"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48"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49" name="Picture 5" descr=""/>
          <p:cNvPicPr/>
          <p:nvPr/>
        </p:nvPicPr>
        <p:blipFill>
          <a:blip r:embed="rId3"/>
          <a:stretch/>
        </p:blipFill>
        <p:spPr>
          <a:xfrm>
            <a:off x="6438240" y="6461280"/>
            <a:ext cx="2248920" cy="338040"/>
          </a:xfrm>
          <a:prstGeom prst="rect">
            <a:avLst/>
          </a:prstGeom>
          <a:ln w="0">
            <a:noFill/>
          </a:ln>
        </p:spPr>
      </p:pic>
      <p:sp>
        <p:nvSpPr>
          <p:cNvPr id="50"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3" name="Picture 6" descr=""/>
          <p:cNvPicPr/>
          <p:nvPr/>
        </p:nvPicPr>
        <p:blipFill>
          <a:blip r:embed="rId2"/>
          <a:stretch/>
        </p:blipFill>
        <p:spPr>
          <a:xfrm>
            <a:off x="0" y="6409800"/>
            <a:ext cx="9152640" cy="456840"/>
          </a:xfrm>
          <a:prstGeom prst="rect">
            <a:avLst/>
          </a:prstGeom>
          <a:ln w="0">
            <a:noFill/>
          </a:ln>
        </p:spPr>
      </p:pic>
      <p:sp>
        <p:nvSpPr>
          <p:cNvPr id="54"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5"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67AE327C-572C-4459-A5BC-BE4726199619}"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56"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57" name="Picture 5" descr=""/>
          <p:cNvPicPr/>
          <p:nvPr/>
        </p:nvPicPr>
        <p:blipFill>
          <a:blip r:embed="rId3"/>
          <a:stretch/>
        </p:blipFill>
        <p:spPr>
          <a:xfrm>
            <a:off x="6438240" y="6461280"/>
            <a:ext cx="2248920" cy="338040"/>
          </a:xfrm>
          <a:prstGeom prst="rect">
            <a:avLst/>
          </a:prstGeom>
          <a:ln w="0">
            <a:noFill/>
          </a:ln>
        </p:spPr>
      </p:pic>
      <p:sp>
        <p:nvSpPr>
          <p:cNvPr id="58"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59"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2" name="Picture 6" descr=""/>
          <p:cNvPicPr/>
          <p:nvPr/>
        </p:nvPicPr>
        <p:blipFill>
          <a:blip r:embed="rId2"/>
          <a:stretch/>
        </p:blipFill>
        <p:spPr>
          <a:xfrm>
            <a:off x="0" y="6409800"/>
            <a:ext cx="9152640" cy="456840"/>
          </a:xfrm>
          <a:prstGeom prst="rect">
            <a:avLst/>
          </a:prstGeom>
          <a:ln w="0">
            <a:noFill/>
          </a:ln>
        </p:spPr>
      </p:pic>
      <p:sp>
        <p:nvSpPr>
          <p:cNvPr id="63"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4"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812E3B01-6294-4E3D-88D4-E9FACA516472}"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65"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66" name="Picture 5" descr=""/>
          <p:cNvPicPr/>
          <p:nvPr/>
        </p:nvPicPr>
        <p:blipFill>
          <a:blip r:embed="rId3"/>
          <a:stretch/>
        </p:blipFill>
        <p:spPr>
          <a:xfrm>
            <a:off x="6438240" y="6461280"/>
            <a:ext cx="2248920" cy="338040"/>
          </a:xfrm>
          <a:prstGeom prst="rect">
            <a:avLst/>
          </a:prstGeom>
          <a:ln w="0">
            <a:noFill/>
          </a:ln>
        </p:spPr>
      </p:pic>
      <p:sp>
        <p:nvSpPr>
          <p:cNvPr id="67"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68"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69"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3" name="Picture 6" descr=""/>
          <p:cNvPicPr/>
          <p:nvPr/>
        </p:nvPicPr>
        <p:blipFill>
          <a:blip r:embed="rId2"/>
          <a:stretch/>
        </p:blipFill>
        <p:spPr>
          <a:xfrm>
            <a:off x="0" y="6409800"/>
            <a:ext cx="9152640" cy="456840"/>
          </a:xfrm>
          <a:prstGeom prst="rect">
            <a:avLst/>
          </a:prstGeom>
          <a:ln w="0">
            <a:noFill/>
          </a:ln>
        </p:spPr>
      </p:pic>
      <p:sp>
        <p:nvSpPr>
          <p:cNvPr id="74"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5"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0FAE4CBA-F92B-4F28-82EA-B54CC284E115}"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76"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77" name="Picture 5" descr=""/>
          <p:cNvPicPr/>
          <p:nvPr/>
        </p:nvPicPr>
        <p:blipFill>
          <a:blip r:embed="rId3"/>
          <a:stretch/>
        </p:blipFill>
        <p:spPr>
          <a:xfrm>
            <a:off x="6438240" y="6461280"/>
            <a:ext cx="2248920" cy="338040"/>
          </a:xfrm>
          <a:prstGeom prst="rect">
            <a:avLst/>
          </a:prstGeom>
          <a:ln w="0">
            <a:noFill/>
          </a:ln>
        </p:spPr>
      </p:pic>
      <p:sp>
        <p:nvSpPr>
          <p:cNvPr id="78"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3"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0" name="Picture 6" descr=""/>
          <p:cNvPicPr/>
          <p:nvPr/>
        </p:nvPicPr>
        <p:blipFill>
          <a:blip r:embed="rId2"/>
          <a:stretch/>
        </p:blipFill>
        <p:spPr>
          <a:xfrm>
            <a:off x="0" y="6409800"/>
            <a:ext cx="9152640" cy="456840"/>
          </a:xfrm>
          <a:prstGeom prst="rect">
            <a:avLst/>
          </a:prstGeom>
          <a:ln w="0">
            <a:noFill/>
          </a:ln>
        </p:spPr>
      </p:pic>
      <p:sp>
        <p:nvSpPr>
          <p:cNvPr id="81"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2"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A83FEFD5-13B9-4094-8B63-313ED81068A2}"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83"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84" name="Picture 5" descr=""/>
          <p:cNvPicPr/>
          <p:nvPr/>
        </p:nvPicPr>
        <p:blipFill>
          <a:blip r:embed="rId3"/>
          <a:stretch/>
        </p:blipFill>
        <p:spPr>
          <a:xfrm>
            <a:off x="6438240" y="6461280"/>
            <a:ext cx="2248920" cy="338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5" name="Picture 6" descr=""/>
          <p:cNvPicPr/>
          <p:nvPr/>
        </p:nvPicPr>
        <p:blipFill>
          <a:blip r:embed="rId2"/>
          <a:stretch/>
        </p:blipFill>
        <p:spPr>
          <a:xfrm>
            <a:off x="0" y="6409800"/>
            <a:ext cx="9152640" cy="456840"/>
          </a:xfrm>
          <a:prstGeom prst="rect">
            <a:avLst/>
          </a:prstGeom>
          <a:ln w="0">
            <a:noFill/>
          </a:ln>
        </p:spPr>
      </p:pic>
      <p:sp>
        <p:nvSpPr>
          <p:cNvPr id="86"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7"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3D460168-0125-4523-828B-5DAB4EDA3E34}"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88"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89" name="Picture 5" descr=""/>
          <p:cNvPicPr/>
          <p:nvPr/>
        </p:nvPicPr>
        <p:blipFill>
          <a:blip r:embed="rId3"/>
          <a:stretch/>
        </p:blipFill>
        <p:spPr>
          <a:xfrm>
            <a:off x="6438240" y="6461280"/>
            <a:ext cx="2248920" cy="338040"/>
          </a:xfrm>
          <a:prstGeom prst="rect">
            <a:avLst/>
          </a:prstGeom>
          <a:ln w="0">
            <a:noFill/>
          </a:ln>
        </p:spPr>
      </p:pic>
      <p:sp>
        <p:nvSpPr>
          <p:cNvPr id="90"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9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92"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93"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7"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8" name="Picture 6" descr=""/>
          <p:cNvPicPr/>
          <p:nvPr/>
        </p:nvPicPr>
        <p:blipFill>
          <a:blip r:embed="rId2"/>
          <a:stretch/>
        </p:blipFill>
        <p:spPr>
          <a:xfrm>
            <a:off x="0" y="6409800"/>
            <a:ext cx="9152640" cy="456840"/>
          </a:xfrm>
          <a:prstGeom prst="rect">
            <a:avLst/>
          </a:prstGeom>
          <a:ln w="0">
            <a:noFill/>
          </a:ln>
        </p:spPr>
      </p:pic>
      <p:sp>
        <p:nvSpPr>
          <p:cNvPr id="99"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0"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D21AE849-41BF-4AA6-AD9A-2F062801FC8F}"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101"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102" name="Picture 5" descr=""/>
          <p:cNvPicPr/>
          <p:nvPr/>
        </p:nvPicPr>
        <p:blipFill>
          <a:blip r:embed="rId3"/>
          <a:stretch/>
        </p:blipFill>
        <p:spPr>
          <a:xfrm>
            <a:off x="6438240" y="6461280"/>
            <a:ext cx="2248920" cy="338040"/>
          </a:xfrm>
          <a:prstGeom prst="rect">
            <a:avLst/>
          </a:prstGeom>
          <a:ln w="0">
            <a:noFill/>
          </a:ln>
        </p:spPr>
      </p:pic>
      <p:sp>
        <p:nvSpPr>
          <p:cNvPr id="103"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104"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05"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06"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9" r:id="rId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1" name="Picture 6" descr=""/>
          <p:cNvPicPr/>
          <p:nvPr/>
        </p:nvPicPr>
        <p:blipFill>
          <a:blip r:embed="rId2"/>
          <a:stretch/>
        </p:blipFill>
        <p:spPr>
          <a:xfrm>
            <a:off x="0" y="6409800"/>
            <a:ext cx="9152640" cy="456840"/>
          </a:xfrm>
          <a:prstGeom prst="rect">
            <a:avLst/>
          </a:prstGeom>
          <a:ln w="0">
            <a:noFill/>
          </a:ln>
        </p:spPr>
      </p:pic>
      <p:sp>
        <p:nvSpPr>
          <p:cNvPr id="112"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5B71016F-CAB7-42C3-A74B-A0009BFF0EEB}"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114"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115" name="Picture 5" descr=""/>
          <p:cNvPicPr/>
          <p:nvPr/>
        </p:nvPicPr>
        <p:blipFill>
          <a:blip r:embed="rId3"/>
          <a:stretch/>
        </p:blipFill>
        <p:spPr>
          <a:xfrm>
            <a:off x="6438240" y="6461280"/>
            <a:ext cx="2248920" cy="338040"/>
          </a:xfrm>
          <a:prstGeom prst="rect">
            <a:avLst/>
          </a:prstGeom>
          <a:ln w="0">
            <a:noFill/>
          </a:ln>
        </p:spPr>
      </p:pic>
      <p:sp>
        <p:nvSpPr>
          <p:cNvPr id="116"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117"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1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19"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81111"/>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1" r:id="rId4"/>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4" name="Picture 42" descr=""/>
          <p:cNvPicPr/>
          <p:nvPr/>
        </p:nvPicPr>
        <p:blipFill>
          <a:blip r:embed="rId2"/>
          <a:stretch/>
        </p:blipFill>
        <p:spPr>
          <a:xfrm>
            <a:off x="360" y="6409800"/>
            <a:ext cx="9152640" cy="456840"/>
          </a:xfrm>
          <a:prstGeom prst="rect">
            <a:avLst/>
          </a:prstGeom>
          <a:ln w="0">
            <a:noFill/>
          </a:ln>
        </p:spPr>
      </p:pic>
      <p:sp>
        <p:nvSpPr>
          <p:cNvPr id="125"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6"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B54EB845-6A0B-407C-81F7-2E4C4A5B0515}"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127"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128" name="Picture 47" descr=""/>
          <p:cNvPicPr/>
          <p:nvPr/>
        </p:nvPicPr>
        <p:blipFill>
          <a:blip r:embed="rId3"/>
          <a:stretch/>
        </p:blipFill>
        <p:spPr>
          <a:xfrm>
            <a:off x="6438240" y="6461280"/>
            <a:ext cx="2248920" cy="338040"/>
          </a:xfrm>
          <a:prstGeom prst="rect">
            <a:avLst/>
          </a:prstGeom>
          <a:ln w="0">
            <a:noFill/>
          </a:ln>
        </p:spPr>
      </p:pic>
      <p:sp>
        <p:nvSpPr>
          <p:cNvPr id="1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rial"/>
              </a:rPr>
              <a:t>Click to edit the title text format</a:t>
            </a:r>
            <a:endParaRPr b="0" lang="en-US" sz="1800" spc="-1" strike="noStrike">
              <a:solidFill>
                <a:schemeClr val="dk1"/>
              </a:solidFill>
              <a:latin typeface="Arial"/>
            </a:endParaRPr>
          </a:p>
        </p:txBody>
      </p:sp>
      <p:sp>
        <p:nvSpPr>
          <p:cNvPr id="130"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Arial"/>
              </a:rPr>
              <a:t>Click to edit the outline text format</a:t>
            </a:r>
            <a:endParaRPr b="0" lang="en-US" sz="2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Arial"/>
              </a:rPr>
              <a:t>Second Outline Level</a:t>
            </a:r>
            <a:endParaRPr b="0" lang="en-US" sz="20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rial"/>
              </a:rPr>
              <a:t>Fifth Outline Level</a:t>
            </a:r>
            <a:endParaRPr b="0" lang="en-US" sz="20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rial"/>
              </a:rPr>
              <a:t>Sixth Outline Level</a:t>
            </a:r>
            <a:endParaRPr b="0" lang="en-US" sz="20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rial"/>
              </a:rPr>
              <a:t>Seventh Outline Level</a:t>
            </a:r>
            <a:endParaRPr b="0" lang="en-US"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3" r:id="rId4"/>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1" name="Picture 42" descr=""/>
          <p:cNvPicPr/>
          <p:nvPr/>
        </p:nvPicPr>
        <p:blipFill>
          <a:blip r:embed="rId2"/>
          <a:stretch/>
        </p:blipFill>
        <p:spPr>
          <a:xfrm>
            <a:off x="360" y="6409800"/>
            <a:ext cx="9152640" cy="456840"/>
          </a:xfrm>
          <a:prstGeom prst="rect">
            <a:avLst/>
          </a:prstGeom>
          <a:ln w="0">
            <a:noFill/>
          </a:ln>
        </p:spPr>
      </p:pic>
      <p:sp>
        <p:nvSpPr>
          <p:cNvPr id="132"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3"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34308BD6-C370-4324-8EF4-149896FB85EE}"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134"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135" name="Picture 47" descr=""/>
          <p:cNvPicPr/>
          <p:nvPr/>
        </p:nvPicPr>
        <p:blipFill>
          <a:blip r:embed="rId3"/>
          <a:stretch/>
        </p:blipFill>
        <p:spPr>
          <a:xfrm>
            <a:off x="6438240" y="6461280"/>
            <a:ext cx="2248920" cy="338040"/>
          </a:xfrm>
          <a:prstGeom prst="rect">
            <a:avLst/>
          </a:prstGeom>
          <a:ln w="0">
            <a:noFill/>
          </a:ln>
        </p:spPr>
      </p:pic>
      <p:sp>
        <p:nvSpPr>
          <p:cNvPr id="136"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137"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81111"/>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38"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81111"/>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5" r:id="rId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2" name="Picture 42" descr=""/>
          <p:cNvPicPr/>
          <p:nvPr/>
        </p:nvPicPr>
        <p:blipFill>
          <a:blip r:embed="rId2"/>
          <a:stretch/>
        </p:blipFill>
        <p:spPr>
          <a:xfrm>
            <a:off x="360" y="6409800"/>
            <a:ext cx="9152640" cy="456840"/>
          </a:xfrm>
          <a:prstGeom prst="rect">
            <a:avLst/>
          </a:prstGeom>
          <a:ln w="0">
            <a:noFill/>
          </a:ln>
        </p:spPr>
      </p:pic>
      <p:sp>
        <p:nvSpPr>
          <p:cNvPr id="143"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4"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1B3A3BAE-E465-473D-BF4D-832B43058DE2}"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145"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146" name="Picture 47" descr=""/>
          <p:cNvPicPr/>
          <p:nvPr/>
        </p:nvPicPr>
        <p:blipFill>
          <a:blip r:embed="rId3"/>
          <a:stretch/>
        </p:blipFill>
        <p:spPr>
          <a:xfrm>
            <a:off x="6438240" y="6461280"/>
            <a:ext cx="2248920" cy="338040"/>
          </a:xfrm>
          <a:prstGeom prst="rect">
            <a:avLst/>
          </a:prstGeom>
          <a:ln w="0">
            <a:noFill/>
          </a:ln>
        </p:spPr>
      </p:pic>
      <p:sp>
        <p:nvSpPr>
          <p:cNvPr id="147"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148"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49"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50"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51"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7" r:id="rId4"/>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7" name="Picture 42" descr=""/>
          <p:cNvPicPr/>
          <p:nvPr/>
        </p:nvPicPr>
        <p:blipFill>
          <a:blip r:embed="rId2"/>
          <a:stretch/>
        </p:blipFill>
        <p:spPr>
          <a:xfrm>
            <a:off x="360" y="6409800"/>
            <a:ext cx="9152640" cy="456840"/>
          </a:xfrm>
          <a:prstGeom prst="rect">
            <a:avLst/>
          </a:prstGeom>
          <a:ln w="0">
            <a:noFill/>
          </a:ln>
        </p:spPr>
      </p:pic>
      <p:sp>
        <p:nvSpPr>
          <p:cNvPr id="158"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9"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4097066E-5846-461F-8A50-1E68DEA44687}"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160"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161" name="Picture 47" descr=""/>
          <p:cNvPicPr/>
          <p:nvPr/>
        </p:nvPicPr>
        <p:blipFill>
          <a:blip r:embed="rId3"/>
          <a:stretch/>
        </p:blipFill>
        <p:spPr>
          <a:xfrm>
            <a:off x="6438240" y="6461280"/>
            <a:ext cx="2248920" cy="338040"/>
          </a:xfrm>
          <a:prstGeom prst="rect">
            <a:avLst/>
          </a:prstGeom>
          <a:ln w="0">
            <a:noFill/>
          </a:ln>
        </p:spPr>
      </p:pic>
      <p:sp>
        <p:nvSpPr>
          <p:cNvPr id="162"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163" name="PlaceHolder 2"/>
          <p:cNvSpPr>
            <a:spLocks noGrp="1"/>
          </p:cNvSpPr>
          <p:nvPr>
            <p:ph type="body"/>
          </p:nvPr>
        </p:nvSpPr>
        <p:spPr>
          <a:xfrm>
            <a:off x="457200" y="1604520"/>
            <a:ext cx="2649240" cy="1896480"/>
          </a:xfrm>
          <a:prstGeom prst="rect">
            <a:avLst/>
          </a:prstGeom>
          <a:noFill/>
          <a:ln w="0">
            <a:noFill/>
          </a:ln>
        </p:spPr>
        <p:txBody>
          <a:bodyPr lIns="0" rIns="0" tIns="0" bIns="0" anchor="t">
            <a:normAutofit fontScale="18333"/>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64" name="PlaceHolder 3"/>
          <p:cNvSpPr>
            <a:spLocks noGrp="1"/>
          </p:cNvSpPr>
          <p:nvPr>
            <p:ph type="body"/>
          </p:nvPr>
        </p:nvSpPr>
        <p:spPr>
          <a:xfrm>
            <a:off x="3239640" y="1604520"/>
            <a:ext cx="2649240" cy="1896480"/>
          </a:xfrm>
          <a:prstGeom prst="rect">
            <a:avLst/>
          </a:prstGeom>
          <a:noFill/>
          <a:ln w="0">
            <a:noFill/>
          </a:ln>
        </p:spPr>
        <p:txBody>
          <a:bodyPr lIns="0" rIns="0" tIns="0" bIns="0" anchor="t">
            <a:normAutofit fontScale="18333"/>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65" name="PlaceHolder 4"/>
          <p:cNvSpPr>
            <a:spLocks noGrp="1"/>
          </p:cNvSpPr>
          <p:nvPr>
            <p:ph type="body"/>
          </p:nvPr>
        </p:nvSpPr>
        <p:spPr>
          <a:xfrm>
            <a:off x="6022080" y="1604520"/>
            <a:ext cx="2649240" cy="1896480"/>
          </a:xfrm>
          <a:prstGeom prst="rect">
            <a:avLst/>
          </a:prstGeom>
          <a:noFill/>
          <a:ln w="0">
            <a:noFill/>
          </a:ln>
        </p:spPr>
        <p:txBody>
          <a:bodyPr lIns="0" rIns="0" tIns="0" bIns="0" anchor="t">
            <a:normAutofit fontScale="18333"/>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66" name="PlaceHolder 5"/>
          <p:cNvSpPr>
            <a:spLocks noGrp="1"/>
          </p:cNvSpPr>
          <p:nvPr>
            <p:ph type="body"/>
          </p:nvPr>
        </p:nvSpPr>
        <p:spPr>
          <a:xfrm>
            <a:off x="457200" y="3682080"/>
            <a:ext cx="2649240" cy="1896480"/>
          </a:xfrm>
          <a:prstGeom prst="rect">
            <a:avLst/>
          </a:prstGeom>
          <a:noFill/>
          <a:ln w="0">
            <a:noFill/>
          </a:ln>
        </p:spPr>
        <p:txBody>
          <a:bodyPr lIns="0" rIns="0" tIns="0" bIns="0" anchor="t">
            <a:normAutofit fontScale="18333"/>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67" name="PlaceHolder 6"/>
          <p:cNvSpPr>
            <a:spLocks noGrp="1"/>
          </p:cNvSpPr>
          <p:nvPr>
            <p:ph type="body"/>
          </p:nvPr>
        </p:nvSpPr>
        <p:spPr>
          <a:xfrm>
            <a:off x="3239640" y="3682080"/>
            <a:ext cx="2649240" cy="1896480"/>
          </a:xfrm>
          <a:prstGeom prst="rect">
            <a:avLst/>
          </a:prstGeom>
          <a:noFill/>
          <a:ln w="0">
            <a:noFill/>
          </a:ln>
        </p:spPr>
        <p:txBody>
          <a:bodyPr lIns="0" rIns="0" tIns="0" bIns="0" anchor="t">
            <a:normAutofit fontScale="18333"/>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68" name="PlaceHolder 7"/>
          <p:cNvSpPr>
            <a:spLocks noGrp="1"/>
          </p:cNvSpPr>
          <p:nvPr>
            <p:ph type="body"/>
          </p:nvPr>
        </p:nvSpPr>
        <p:spPr>
          <a:xfrm>
            <a:off x="6022080" y="3682080"/>
            <a:ext cx="2649240" cy="1896480"/>
          </a:xfrm>
          <a:prstGeom prst="rect">
            <a:avLst/>
          </a:prstGeom>
          <a:noFill/>
          <a:ln w="0">
            <a:noFill/>
          </a:ln>
        </p:spPr>
        <p:txBody>
          <a:bodyPr lIns="0" rIns="0" tIns="0" bIns="0" anchor="t">
            <a:normAutofit fontScale="18333"/>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9" r:id="rId4"/>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9" name="Picture 42" descr=""/>
          <p:cNvPicPr/>
          <p:nvPr/>
        </p:nvPicPr>
        <p:blipFill>
          <a:blip r:embed="rId2"/>
          <a:stretch/>
        </p:blipFill>
        <p:spPr>
          <a:xfrm>
            <a:off x="360" y="6409800"/>
            <a:ext cx="9152640" cy="456840"/>
          </a:xfrm>
          <a:prstGeom prst="rect">
            <a:avLst/>
          </a:prstGeom>
          <a:ln w="0">
            <a:noFill/>
          </a:ln>
        </p:spPr>
      </p:pic>
      <p:sp>
        <p:nvSpPr>
          <p:cNvPr id="170"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1"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F4E30420-EA5A-41E3-A92D-3ECDE8A0FC5E}"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172"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173" name="Picture 47" descr=""/>
          <p:cNvPicPr/>
          <p:nvPr/>
        </p:nvPicPr>
        <p:blipFill>
          <a:blip r:embed="rId3"/>
          <a:stretch/>
        </p:blipFill>
        <p:spPr>
          <a:xfrm>
            <a:off x="6438240" y="6461280"/>
            <a:ext cx="2248920" cy="338040"/>
          </a:xfrm>
          <a:prstGeom prst="rect">
            <a:avLst/>
          </a:prstGeom>
          <a:ln w="0">
            <a:noFill/>
          </a:ln>
        </p:spPr>
      </p:pic>
      <p:sp>
        <p:nvSpPr>
          <p:cNvPr id="174"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1" r:id="rId4"/>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77" name="Picture 42" descr=""/>
          <p:cNvPicPr/>
          <p:nvPr/>
        </p:nvPicPr>
        <p:blipFill>
          <a:blip r:embed="rId2"/>
          <a:stretch/>
        </p:blipFill>
        <p:spPr>
          <a:xfrm>
            <a:off x="360" y="6409800"/>
            <a:ext cx="9152640" cy="456840"/>
          </a:xfrm>
          <a:prstGeom prst="rect">
            <a:avLst/>
          </a:prstGeom>
          <a:ln w="0">
            <a:noFill/>
          </a:ln>
        </p:spPr>
      </p:pic>
      <p:sp>
        <p:nvSpPr>
          <p:cNvPr id="178"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9"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B0396C5A-5BF1-4813-9B3A-78318F4EAFB0}"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180"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181" name="Picture 47" descr=""/>
          <p:cNvPicPr/>
          <p:nvPr/>
        </p:nvPicPr>
        <p:blipFill>
          <a:blip r:embed="rId3"/>
          <a:stretch/>
        </p:blipFill>
        <p:spPr>
          <a:xfrm>
            <a:off x="6438240" y="6461280"/>
            <a:ext cx="2248920" cy="338040"/>
          </a:xfrm>
          <a:prstGeom prst="rect">
            <a:avLst/>
          </a:prstGeom>
          <a:ln w="0">
            <a:noFill/>
          </a:ln>
        </p:spPr>
      </p:pic>
      <p:sp>
        <p:nvSpPr>
          <p:cNvPr id="182"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183"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3" r:id="rId4"/>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6" name="Picture 42" descr=""/>
          <p:cNvPicPr/>
          <p:nvPr/>
        </p:nvPicPr>
        <p:blipFill>
          <a:blip r:embed="rId2"/>
          <a:stretch/>
        </p:blipFill>
        <p:spPr>
          <a:xfrm>
            <a:off x="360" y="6409800"/>
            <a:ext cx="9152640" cy="456840"/>
          </a:xfrm>
          <a:prstGeom prst="rect">
            <a:avLst/>
          </a:prstGeom>
          <a:ln w="0">
            <a:noFill/>
          </a:ln>
        </p:spPr>
      </p:pic>
      <p:sp>
        <p:nvSpPr>
          <p:cNvPr id="187"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8"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F484A7B1-4E1A-4151-8D7D-1FBEFF4603F5}"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189"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190" name="Picture 47" descr=""/>
          <p:cNvPicPr/>
          <p:nvPr/>
        </p:nvPicPr>
        <p:blipFill>
          <a:blip r:embed="rId3"/>
          <a:stretch/>
        </p:blipFill>
        <p:spPr>
          <a:xfrm>
            <a:off x="6438240" y="6461280"/>
            <a:ext cx="2248920" cy="338040"/>
          </a:xfrm>
          <a:prstGeom prst="rect">
            <a:avLst/>
          </a:prstGeom>
          <a:ln w="0">
            <a:noFill/>
          </a:ln>
        </p:spPr>
      </p:pic>
      <p:sp>
        <p:nvSpPr>
          <p:cNvPr id="191"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192"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93"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5" r:id="rId4"/>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7" name="Picture 42" descr=""/>
          <p:cNvPicPr/>
          <p:nvPr/>
        </p:nvPicPr>
        <p:blipFill>
          <a:blip r:embed="rId2"/>
          <a:stretch/>
        </p:blipFill>
        <p:spPr>
          <a:xfrm>
            <a:off x="360" y="6409800"/>
            <a:ext cx="9152640" cy="456840"/>
          </a:xfrm>
          <a:prstGeom prst="rect">
            <a:avLst/>
          </a:prstGeom>
          <a:ln w="0">
            <a:noFill/>
          </a:ln>
        </p:spPr>
      </p:pic>
      <p:sp>
        <p:nvSpPr>
          <p:cNvPr id="198"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9"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D7F3818C-F774-492F-A527-FCF1B3BEA457}"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200"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201" name="Picture 47" descr=""/>
          <p:cNvPicPr/>
          <p:nvPr/>
        </p:nvPicPr>
        <p:blipFill>
          <a:blip r:embed="rId3"/>
          <a:stretch/>
        </p:blipFill>
        <p:spPr>
          <a:xfrm>
            <a:off x="6438240" y="6461280"/>
            <a:ext cx="2248920" cy="338040"/>
          </a:xfrm>
          <a:prstGeom prst="rect">
            <a:avLst/>
          </a:prstGeom>
          <a:ln w="0">
            <a:noFill/>
          </a:ln>
        </p:spPr>
      </p:pic>
      <p:sp>
        <p:nvSpPr>
          <p:cNvPr id="202"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7" r:id="rId4"/>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4" name="Picture 42" descr=""/>
          <p:cNvPicPr/>
          <p:nvPr/>
        </p:nvPicPr>
        <p:blipFill>
          <a:blip r:embed="rId2"/>
          <a:stretch/>
        </p:blipFill>
        <p:spPr>
          <a:xfrm>
            <a:off x="360" y="6409800"/>
            <a:ext cx="9152640" cy="456840"/>
          </a:xfrm>
          <a:prstGeom prst="rect">
            <a:avLst/>
          </a:prstGeom>
          <a:ln w="0">
            <a:noFill/>
          </a:ln>
        </p:spPr>
      </p:pic>
      <p:sp>
        <p:nvSpPr>
          <p:cNvPr id="205"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6"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94091F08-0CA6-4264-B249-64F86C747B24}"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207"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208" name="Picture 47" descr=""/>
          <p:cNvPicPr/>
          <p:nvPr/>
        </p:nvPicPr>
        <p:blipFill>
          <a:blip r:embed="rId3"/>
          <a:stretch/>
        </p:blipFill>
        <p:spPr>
          <a:xfrm>
            <a:off x="6438240" y="6461280"/>
            <a:ext cx="2248920" cy="338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9" r:id="rId4"/>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9" name="Picture 42" descr=""/>
          <p:cNvPicPr/>
          <p:nvPr/>
        </p:nvPicPr>
        <p:blipFill>
          <a:blip r:embed="rId2"/>
          <a:stretch/>
        </p:blipFill>
        <p:spPr>
          <a:xfrm>
            <a:off x="360" y="6409800"/>
            <a:ext cx="9152640" cy="456840"/>
          </a:xfrm>
          <a:prstGeom prst="rect">
            <a:avLst/>
          </a:prstGeom>
          <a:ln w="0">
            <a:noFill/>
          </a:ln>
        </p:spPr>
      </p:pic>
      <p:sp>
        <p:nvSpPr>
          <p:cNvPr id="210"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1"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0605E779-CEF3-4C04-A833-0BF8C2C215FD}"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212"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213" name="Picture 47" descr=""/>
          <p:cNvPicPr/>
          <p:nvPr/>
        </p:nvPicPr>
        <p:blipFill>
          <a:blip r:embed="rId3"/>
          <a:stretch/>
        </p:blipFill>
        <p:spPr>
          <a:xfrm>
            <a:off x="6438240" y="6461280"/>
            <a:ext cx="2248920" cy="338040"/>
          </a:xfrm>
          <a:prstGeom prst="rect">
            <a:avLst/>
          </a:prstGeom>
          <a:ln w="0">
            <a:noFill/>
          </a:ln>
        </p:spPr>
      </p:pic>
      <p:sp>
        <p:nvSpPr>
          <p:cNvPr id="214"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21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216"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217"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1" r:id="rId4"/>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2" name="Picture 42" descr=""/>
          <p:cNvPicPr/>
          <p:nvPr/>
        </p:nvPicPr>
        <p:blipFill>
          <a:blip r:embed="rId2"/>
          <a:stretch/>
        </p:blipFill>
        <p:spPr>
          <a:xfrm>
            <a:off x="360" y="6409800"/>
            <a:ext cx="9152640" cy="456840"/>
          </a:xfrm>
          <a:prstGeom prst="rect">
            <a:avLst/>
          </a:prstGeom>
          <a:ln w="0">
            <a:noFill/>
          </a:ln>
        </p:spPr>
      </p:pic>
      <p:sp>
        <p:nvSpPr>
          <p:cNvPr id="223"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24"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37F5DF57-9608-473E-AFBA-C3EA4A7812BD}"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225"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226" name="Picture 47" descr=""/>
          <p:cNvPicPr/>
          <p:nvPr/>
        </p:nvPicPr>
        <p:blipFill>
          <a:blip r:embed="rId3"/>
          <a:stretch/>
        </p:blipFill>
        <p:spPr>
          <a:xfrm>
            <a:off x="6438240" y="6461280"/>
            <a:ext cx="2248920" cy="338040"/>
          </a:xfrm>
          <a:prstGeom prst="rect">
            <a:avLst/>
          </a:prstGeom>
          <a:ln w="0">
            <a:noFill/>
          </a:ln>
        </p:spPr>
      </p:pic>
      <p:sp>
        <p:nvSpPr>
          <p:cNvPr id="227"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228"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229"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230"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3" r:id="rId4"/>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35" name="Picture 42" descr=""/>
          <p:cNvPicPr/>
          <p:nvPr/>
        </p:nvPicPr>
        <p:blipFill>
          <a:blip r:embed="rId2"/>
          <a:stretch/>
        </p:blipFill>
        <p:spPr>
          <a:xfrm>
            <a:off x="360" y="6409800"/>
            <a:ext cx="9152640" cy="456840"/>
          </a:xfrm>
          <a:prstGeom prst="rect">
            <a:avLst/>
          </a:prstGeom>
          <a:ln w="0">
            <a:noFill/>
          </a:ln>
        </p:spPr>
      </p:pic>
      <p:sp>
        <p:nvSpPr>
          <p:cNvPr id="236" name="Google Shape;55;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7" name="Google Shape;56;p13"/>
          <p:cNvSpPr/>
          <p:nvPr/>
        </p:nvSpPr>
        <p:spPr>
          <a:xfrm>
            <a:off x="0" y="6485040"/>
            <a:ext cx="837360" cy="29628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0000"/>
              </a:lnSpc>
              <a:tabLst>
                <a:tab algn="l" pos="0"/>
              </a:tabLst>
            </a:pPr>
            <a:fld id="{AB71B030-87C6-43F3-8C95-36BCBAABA4A3}" type="slidenum">
              <a:rPr b="1" lang="en-US" sz="1200" spc="-1" strike="noStrike">
                <a:solidFill>
                  <a:srgbClr val="ffffff"/>
                </a:solidFill>
                <a:latin typeface="Century Gothic"/>
                <a:ea typeface="Century Gothic"/>
              </a:rPr>
              <a:t>&lt;number&gt;</a:t>
            </a:fld>
            <a:endParaRPr b="0" lang="en-US" sz="1200" spc="-1" strike="noStrike">
              <a:solidFill>
                <a:srgbClr val="000000"/>
              </a:solidFill>
              <a:latin typeface="Arial"/>
            </a:endParaRPr>
          </a:p>
        </p:txBody>
      </p:sp>
      <p:sp>
        <p:nvSpPr>
          <p:cNvPr id="238" name="Google Shape;58;p13"/>
          <p:cNvSpPr/>
          <p:nvPr/>
        </p:nvSpPr>
        <p:spPr>
          <a:xfrm>
            <a:off x="2887200" y="6472800"/>
            <a:ext cx="3358440" cy="333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1" lang="en-US" sz="800" spc="-1" strike="noStrike">
                <a:solidFill>
                  <a:srgbClr val="ffffff"/>
                </a:solidFill>
                <a:latin typeface="Century Gothic"/>
                <a:ea typeface="Century Gothic"/>
              </a:rPr>
              <a:t>General Atomics – Integrated Intelligence, Inc. Proprietary Information</a:t>
            </a:r>
            <a:endParaRPr b="0" lang="en-US" sz="800" spc="-1" strike="noStrike">
              <a:solidFill>
                <a:srgbClr val="000000"/>
              </a:solidFill>
              <a:latin typeface="Arial"/>
            </a:endParaRPr>
          </a:p>
        </p:txBody>
      </p:sp>
      <p:pic>
        <p:nvPicPr>
          <p:cNvPr id="239" name="Picture 47" descr=""/>
          <p:cNvPicPr/>
          <p:nvPr/>
        </p:nvPicPr>
        <p:blipFill>
          <a:blip r:embed="rId3"/>
          <a:stretch/>
        </p:blipFill>
        <p:spPr>
          <a:xfrm>
            <a:off x="6438240" y="6461280"/>
            <a:ext cx="2248920" cy="338040"/>
          </a:xfrm>
          <a:prstGeom prst="rect">
            <a:avLst/>
          </a:prstGeom>
          <a:ln w="0">
            <a:noFill/>
          </a:ln>
        </p:spPr>
      </p:pic>
      <p:sp>
        <p:nvSpPr>
          <p:cNvPr id="240" name="PlaceHolder 1"/>
          <p:cNvSpPr>
            <a:spLocks noGrp="1"/>
          </p:cNvSpPr>
          <p:nvPr>
            <p:ph type="title"/>
          </p:nvPr>
        </p:nvSpPr>
        <p:spPr>
          <a:xfrm>
            <a:off x="0" y="0"/>
            <a:ext cx="9143280" cy="913680"/>
          </a:xfrm>
          <a:prstGeom prst="rect">
            <a:avLst/>
          </a:prstGeom>
          <a:noFill/>
          <a:ln w="0">
            <a:noFill/>
          </a:ln>
        </p:spPr>
        <p:txBody>
          <a:bodyPr lIns="0" rIns="0" tIns="0" bIns="0" anchor="ctr">
            <a:noAutofit/>
          </a:bodyPr>
          <a:p>
            <a:pPr indent="0">
              <a:buNone/>
            </a:pPr>
            <a:r>
              <a:rPr b="0" lang="en-US" sz="4400" spc="-1" strike="noStrike">
                <a:solidFill>
                  <a:schemeClr val="dk1"/>
                </a:solidFill>
                <a:latin typeface="Arial"/>
              </a:rPr>
              <a:t>Click to edit the title text format</a:t>
            </a:r>
            <a:endParaRPr b="0" lang="en-US" sz="4400" spc="-1" strike="noStrike">
              <a:solidFill>
                <a:schemeClr val="dk1"/>
              </a:solidFill>
              <a:latin typeface="Arial"/>
            </a:endParaRPr>
          </a:p>
        </p:txBody>
      </p:sp>
      <p:sp>
        <p:nvSpPr>
          <p:cNvPr id="24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24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75000" lnSpcReduction="20000"/>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243"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81111"/>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5" r:id="rId4"/>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4" name="Picture 4" descr=""/>
          <p:cNvPicPr/>
          <p:nvPr/>
        </p:nvPicPr>
        <p:blipFill>
          <a:blip r:embed="rId1"/>
          <a:stretch/>
        </p:blipFill>
        <p:spPr>
          <a:xfrm>
            <a:off x="7632000" y="374760"/>
            <a:ext cx="1344240" cy="581760"/>
          </a:xfrm>
          <a:prstGeom prst="rect">
            <a:avLst/>
          </a:prstGeom>
          <a:ln w="0">
            <a:noFill/>
          </a:ln>
        </p:spPr>
      </p:pic>
      <p:sp>
        <p:nvSpPr>
          <p:cNvPr id="255" name="Google Shape;109;p25"/>
          <p:cNvSpPr/>
          <p:nvPr/>
        </p:nvSpPr>
        <p:spPr>
          <a:xfrm>
            <a:off x="4377960" y="5216400"/>
            <a:ext cx="4765320" cy="98604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rgbClr val="000000"/>
              </a:solidFill>
              <a:latin typeface="Arial"/>
              <a:ea typeface="DejaVu Sans"/>
            </a:endParaRPr>
          </a:p>
        </p:txBody>
      </p:sp>
      <p:sp>
        <p:nvSpPr>
          <p:cNvPr id="256" name="Google Shape;100;p 1"/>
          <p:cNvSpPr/>
          <p:nvPr/>
        </p:nvSpPr>
        <p:spPr>
          <a:xfrm>
            <a:off x="156600" y="656280"/>
            <a:ext cx="4141800" cy="347040"/>
          </a:xfrm>
          <a:prstGeom prst="rect">
            <a:avLst/>
          </a:prstGeom>
          <a:solidFill>
            <a:srgbClr val="000000"/>
          </a:solidFill>
          <a:ln w="0">
            <a:solidFill>
              <a:srgbClr val="000000"/>
            </a:solidFill>
          </a:ln>
        </p:spPr>
        <p:style>
          <a:lnRef idx="0"/>
          <a:fillRef idx="0"/>
          <a:effectRef idx="0"/>
          <a:fontRef idx="minor"/>
        </p:style>
        <p:txBody>
          <a:bodyPr tIns="173520" bIns="173520" anchor="ctr">
            <a:noAutofit/>
          </a:bodyPr>
          <a:p>
            <a:r>
              <a:t>&lt;opp-number&gt; General Admiral's Integrated AI-Gaming Solution for Fight Tonight</a:t>
            </a:r>
          </a:p>
        </p:txBody>
      </p:sp>
      <p:sp>
        <p:nvSpPr>
          <p:cNvPr id="257" name="Google Shape;100;p 2"/>
          <p:cNvSpPr/>
          <p:nvPr/>
        </p:nvSpPr>
        <p:spPr>
          <a:xfrm>
            <a:off x="4305960" y="1003680"/>
            <a:ext cx="1215720" cy="347040"/>
          </a:xfrm>
          <a:prstGeom prst="rect">
            <a:avLst/>
          </a:prstGeom>
          <a:solidFill>
            <a:srgbClr val="d6d6d6"/>
          </a:solidFill>
          <a:ln w="0">
            <a:solidFill>
              <a:srgbClr val="000000"/>
            </a:solidFill>
          </a:ln>
        </p:spPr>
        <p:style>
          <a:lnRef idx="0"/>
          <a:fillRef idx="0"/>
          <a:effectRef idx="0"/>
          <a:fontRef idx="minor"/>
        </p:style>
        <p:txBody>
          <a:bodyPr tIns="173520" bIns="173520" anchor="ctr">
            <a:noAutofit/>
          </a:bodyPr>
          <a:p>
            <a:pPr defTabSz="914400">
              <a:lnSpc>
                <a:spcPct val="100000"/>
              </a:lnSpc>
            </a:pPr>
            <a:r>
              <a:rPr b="0" lang="en-US" sz="1200" spc="-1" strike="noStrike">
                <a:solidFill>
                  <a:srgbClr val="000000"/>
                </a:solidFill>
                <a:latin typeface="Arial"/>
                <a:ea typeface="Century Gothic"/>
              </a:rPr>
              <a:t>Award: &lt;award-date&gt;</a:t>
            </a:r>
            <a:endParaRPr b="0" lang="en-US" sz="1200" spc="-1" strike="noStrike">
              <a:solidFill>
                <a:srgbClr val="000000"/>
              </a:solidFill>
              <a:latin typeface="Arial"/>
            </a:endParaRPr>
          </a:p>
        </p:txBody>
      </p:sp>
      <p:sp>
        <p:nvSpPr>
          <p:cNvPr id="258" name="Google Shape;100;p 3"/>
          <p:cNvSpPr/>
          <p:nvPr/>
        </p:nvSpPr>
        <p:spPr>
          <a:xfrm>
            <a:off x="5506200" y="1003680"/>
            <a:ext cx="1288800" cy="347040"/>
          </a:xfrm>
          <a:prstGeom prst="rect">
            <a:avLst/>
          </a:prstGeom>
          <a:solidFill>
            <a:srgbClr val="d6d6d6"/>
          </a:solidFill>
          <a:ln w="0">
            <a:solidFill>
              <a:srgbClr val="000000"/>
            </a:solidFill>
          </a:ln>
        </p:spPr>
        <p:style>
          <a:lnRef idx="0"/>
          <a:fillRef idx="0"/>
          <a:effectRef idx="0"/>
          <a:fontRef idx="minor"/>
        </p:style>
        <p:txBody>
          <a:bodyPr tIns="173520" bIns="173520" anchor="ctr">
            <a:noAutofit/>
          </a:bodyPr>
          <a:p>
            <a:r>
              <a:t>PoP: 30 months (Phase 1)</a:t>
            </a:r>
          </a:p>
        </p:txBody>
      </p:sp>
      <p:sp>
        <p:nvSpPr>
          <p:cNvPr id="259" name="Google Shape;100;p 4"/>
          <p:cNvSpPr/>
          <p:nvPr/>
        </p:nvSpPr>
        <p:spPr>
          <a:xfrm>
            <a:off x="4298760" y="308880"/>
            <a:ext cx="2175840" cy="347040"/>
          </a:xfrm>
          <a:prstGeom prst="rect">
            <a:avLst/>
          </a:prstGeom>
          <a:solidFill>
            <a:srgbClr val="d6d6d6"/>
          </a:solidFill>
          <a:ln w="0">
            <a:solidFill>
              <a:srgbClr val="000000"/>
            </a:solidFill>
          </a:ln>
        </p:spPr>
        <p:style>
          <a:lnRef idx="0"/>
          <a:fillRef idx="0"/>
          <a:effectRef idx="0"/>
          <a:fontRef idx="minor"/>
        </p:style>
        <p:txBody>
          <a:bodyPr tIns="173520" bIns="173520" anchor="ctr">
            <a:noAutofit/>
          </a:bodyPr>
          <a:p>
            <a:pPr defTabSz="914400">
              <a:lnSpc>
                <a:spcPct val="100000"/>
              </a:lnSpc>
            </a:pPr>
            <a:r>
              <a:rPr b="1" lang="en-US" sz="1200" spc="-1" strike="noStrike">
                <a:solidFill>
                  <a:srgbClr val="000000"/>
                </a:solidFill>
                <a:latin typeface="Arial"/>
                <a:ea typeface="Century Gothic"/>
              </a:rPr>
              <a:t>Due: &lt;due-date&gt;</a:t>
            </a:r>
            <a:endParaRPr b="0" lang="en-US" sz="1200" spc="-1" strike="noStrike">
              <a:solidFill>
                <a:srgbClr val="000000"/>
              </a:solidFill>
              <a:latin typeface="Arial"/>
            </a:endParaRPr>
          </a:p>
        </p:txBody>
      </p:sp>
      <p:sp>
        <p:nvSpPr>
          <p:cNvPr id="260" name="TextBox 140"/>
          <p:cNvSpPr/>
          <p:nvPr/>
        </p:nvSpPr>
        <p:spPr>
          <a:xfrm>
            <a:off x="7625160" y="144000"/>
            <a:ext cx="1343160" cy="29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200" spc="-1" strike="noStrike">
                <a:solidFill>
                  <a:srgbClr val="000000"/>
                </a:solidFill>
                <a:latin typeface="Arial"/>
                <a:ea typeface="Century Gothic"/>
              </a:rPr>
              <a:t>Recommend</a:t>
            </a:r>
            <a:endParaRPr b="0" lang="en-US" sz="1200" spc="-1" strike="noStrike">
              <a:solidFill>
                <a:srgbClr val="000000"/>
              </a:solidFill>
              <a:latin typeface="Arial"/>
            </a:endParaRPr>
          </a:p>
        </p:txBody>
      </p:sp>
      <p:sp>
        <p:nvSpPr>
          <p:cNvPr id="261" name="TextBox 141"/>
          <p:cNvSpPr/>
          <p:nvPr/>
        </p:nvSpPr>
        <p:spPr>
          <a:xfrm>
            <a:off x="4312080" y="703440"/>
            <a:ext cx="3353040" cy="289800"/>
          </a:xfrm>
          <a:prstGeom prst="rect">
            <a:avLst/>
          </a:prstGeom>
          <a:noFill/>
          <a:ln w="0">
            <a:noFill/>
          </a:ln>
        </p:spPr>
        <p:style>
          <a:lnRef idx="0"/>
          <a:fillRef idx="0"/>
          <a:effectRef idx="0"/>
          <a:fontRef idx="minor"/>
        </p:style>
        <p:txBody>
          <a:bodyPr lIns="90000" rIns="90000" tIns="45000" bIns="45000" anchor="t">
            <a:noAutofit/>
          </a:bodyPr>
          <a:p>
            <a:r>
              <a:t>SECTION B: TASK OBJECTIVE, SECTION C: TECHNICAL SUMMARY AND PROPOSED DELIVERABLES</a:t>
            </a:r>
          </a:p>
        </p:txBody>
      </p:sp>
      <p:sp>
        <p:nvSpPr>
          <p:cNvPr id="262" name="TextBox 142"/>
          <p:cNvSpPr/>
          <p:nvPr/>
        </p:nvSpPr>
        <p:spPr>
          <a:xfrm>
            <a:off x="156600" y="1041120"/>
            <a:ext cx="2285640" cy="289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pc="-1" strike="noStrike">
                <a:solidFill>
                  <a:schemeClr val="dk1"/>
                </a:solidFill>
                <a:latin typeface="Arial"/>
                <a:ea typeface="DejaVu Sans"/>
              </a:rPr>
              <a:t>Opportunity Vision</a:t>
            </a:r>
            <a:endParaRPr b="0" lang="en-US" sz="1400" spc="-1" strike="noStrike">
              <a:solidFill>
                <a:srgbClr val="000000"/>
              </a:solidFill>
              <a:latin typeface="Arial"/>
            </a:endParaRPr>
          </a:p>
        </p:txBody>
      </p:sp>
      <p:sp>
        <p:nvSpPr>
          <p:cNvPr id="263" name="Google Shape;100;p 5"/>
          <p:cNvSpPr/>
          <p:nvPr/>
        </p:nvSpPr>
        <p:spPr>
          <a:xfrm>
            <a:off x="156600" y="1352160"/>
            <a:ext cx="4141800" cy="2473560"/>
          </a:xfrm>
          <a:prstGeom prst="rect">
            <a:avLst/>
          </a:prstGeom>
          <a:solidFill>
            <a:srgbClr val="d4e4fa"/>
          </a:solidFill>
          <a:ln w="0">
            <a:solidFill>
              <a:srgbClr val="000000"/>
            </a:solidFill>
          </a:ln>
        </p:spPr>
        <p:style>
          <a:lnRef idx="0"/>
          <a:fillRef idx="0"/>
          <a:effectRef idx="0"/>
          <a:fontRef idx="minor"/>
        </p:style>
        <p:txBody>
          <a:bodyPr tIns="91440" bIns="91440" anchor="t">
            <a:noAutofit/>
          </a:bodyPr>
          <a:p>
            <a:r>
              <a:t>For &lt;vision-for&gt;Who &lt;vision-who&gt;&lt;project-name&gt;Is &lt;vision-is&gt;That &lt;vision-that&gt;Unlike &lt;vision-unlike&gt;Our Solution Our solution combines cutting-edge automated planning algorithms with a commercial game engine architecture to enable human planners to rapidly build, rehearse, and assess combat plans against peer adversaries.</a:t>
            </a:r>
          </a:p>
        </p:txBody>
      </p:sp>
      <p:sp>
        <p:nvSpPr>
          <p:cNvPr id="264" name="Google Shape;100;p 6"/>
          <p:cNvSpPr/>
          <p:nvPr/>
        </p:nvSpPr>
        <p:spPr>
          <a:xfrm>
            <a:off x="275400" y="4049640"/>
            <a:ext cx="4023000" cy="797040"/>
          </a:xfrm>
          <a:prstGeom prst="rect">
            <a:avLst/>
          </a:prstGeom>
          <a:solidFill>
            <a:srgbClr val="d6d6d6"/>
          </a:solidFill>
          <a:ln w="0">
            <a:solidFill>
              <a:srgbClr val="000000"/>
            </a:solidFill>
          </a:ln>
        </p:spPr>
        <p:style>
          <a:lnRef idx="0"/>
          <a:fillRef idx="0"/>
          <a:effectRef idx="0"/>
          <a:fontRef idx="minor"/>
        </p:style>
        <p:txBody>
          <a:bodyPr tIns="91440" bIns="91440" anchor="t">
            <a:noAutofit/>
          </a:bodyPr>
          <a:p>
            <a:r>
              <a:t>Needs this stage? reducing Master Air Attack Plan (MAAP) development time from 36 hours to under 4 hours</a:t>
            </a:r>
          </a:p>
        </p:txBody>
      </p:sp>
      <p:sp>
        <p:nvSpPr>
          <p:cNvPr id="265" name="Rectangle 145"/>
          <p:cNvSpPr/>
          <p:nvPr/>
        </p:nvSpPr>
        <p:spPr>
          <a:xfrm>
            <a:off x="156600" y="4049640"/>
            <a:ext cx="118440" cy="797040"/>
          </a:xfrm>
          <a:prstGeom prst="rect">
            <a:avLst/>
          </a:prstGeom>
          <a:solidFill>
            <a:srgbClr val="00ff00"/>
          </a:solidFill>
          <a:ln w="0">
            <a:solidFill>
              <a:srgbClr val="000000"/>
            </a:solid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rgbClr val="000000"/>
              </a:solidFill>
              <a:latin typeface="Arial"/>
              <a:ea typeface="DejaVu Sans"/>
            </a:endParaRPr>
          </a:p>
        </p:txBody>
      </p:sp>
      <p:sp>
        <p:nvSpPr>
          <p:cNvPr id="266" name="Google Shape;100;p 7"/>
          <p:cNvSpPr/>
          <p:nvPr/>
        </p:nvSpPr>
        <p:spPr>
          <a:xfrm>
            <a:off x="275400" y="4857120"/>
            <a:ext cx="4023000" cy="804240"/>
          </a:xfrm>
          <a:prstGeom prst="rect">
            <a:avLst/>
          </a:prstGeom>
          <a:solidFill>
            <a:srgbClr val="d6d6d6"/>
          </a:solidFill>
          <a:ln w="0">
            <a:solidFill>
              <a:srgbClr val="000000"/>
            </a:solidFill>
          </a:ln>
        </p:spPr>
        <p:style>
          <a:lnRef idx="0"/>
          <a:fillRef idx="0"/>
          <a:effectRef idx="0"/>
          <a:fontRef idx="minor"/>
        </p:style>
        <p:txBody>
          <a:bodyPr tIns="91440" bIns="91440" anchor="t">
            <a:noAutofit/>
          </a:bodyPr>
          <a:p>
            <a:pPr defTabSz="914400">
              <a:lnSpc>
                <a:spcPct val="115000"/>
              </a:lnSpc>
              <a:spcBef>
                <a:spcPts val="1191"/>
              </a:spcBef>
              <a:spcAft>
                <a:spcPts val="992"/>
              </a:spcAft>
            </a:pPr>
            <a:r>
              <a:rPr b="1" lang="en-US" sz="1200" spc="-1" strike="noStrike">
                <a:solidFill>
                  <a:srgbClr val="000000"/>
                </a:solidFill>
                <a:latin typeface="Arial"/>
                <a:ea typeface="Century Gothic"/>
              </a:rPr>
              <a:t>Alignment/Are we the right team? </a:t>
            </a:r>
            <a:r>
              <a:rPr b="0" lang="en-US" sz="1200" spc="-1" strike="noStrike">
                <a:solidFill>
                  <a:srgbClr val="000000"/>
                </a:solidFill>
                <a:latin typeface="Arial"/>
                <a:ea typeface="Century Gothic"/>
              </a:rPr>
              <a:t>&lt;alignment&gt;</a:t>
            </a:r>
            <a:endParaRPr b="0" lang="en-US" sz="1200" spc="-1" strike="noStrike">
              <a:solidFill>
                <a:srgbClr val="000000"/>
              </a:solidFill>
              <a:latin typeface="Arial"/>
            </a:endParaRPr>
          </a:p>
        </p:txBody>
      </p:sp>
      <p:sp>
        <p:nvSpPr>
          <p:cNvPr id="267" name="Rectangle 147"/>
          <p:cNvSpPr/>
          <p:nvPr/>
        </p:nvSpPr>
        <p:spPr>
          <a:xfrm>
            <a:off x="156600" y="4857120"/>
            <a:ext cx="118440" cy="804240"/>
          </a:xfrm>
          <a:prstGeom prst="rect">
            <a:avLst/>
          </a:prstGeom>
          <a:solidFill>
            <a:srgbClr val="fcd54e"/>
          </a:solidFill>
          <a:ln w="0">
            <a:solidFill>
              <a:srgbClr val="000000"/>
            </a:solid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rgbClr val="000000"/>
              </a:solidFill>
              <a:latin typeface="Arial"/>
              <a:ea typeface="DejaVu Sans"/>
            </a:endParaRPr>
          </a:p>
        </p:txBody>
      </p:sp>
      <p:sp>
        <p:nvSpPr>
          <p:cNvPr id="268" name="Google Shape;100;p 8"/>
          <p:cNvSpPr/>
          <p:nvPr/>
        </p:nvSpPr>
        <p:spPr>
          <a:xfrm>
            <a:off x="275400" y="5661720"/>
            <a:ext cx="4023000" cy="585000"/>
          </a:xfrm>
          <a:prstGeom prst="rect">
            <a:avLst/>
          </a:prstGeom>
          <a:solidFill>
            <a:srgbClr val="d6d6d6"/>
          </a:solidFill>
          <a:ln w="0">
            <a:solidFill>
              <a:srgbClr val="000000"/>
            </a:solidFill>
          </a:ln>
        </p:spPr>
        <p:style>
          <a:lnRef idx="0"/>
          <a:fillRef idx="0"/>
          <a:effectRef idx="0"/>
          <a:fontRef idx="minor"/>
        </p:style>
        <p:txBody>
          <a:bodyPr tIns="91440" bIns="91440" anchor="t">
            <a:noAutofit/>
          </a:bodyPr>
          <a:p>
            <a:pPr defTabSz="914400">
              <a:lnSpc>
                <a:spcPct val="115000"/>
              </a:lnSpc>
              <a:spcBef>
                <a:spcPts val="1191"/>
              </a:spcBef>
              <a:spcAft>
                <a:spcPts val="992"/>
              </a:spcAft>
            </a:pPr>
            <a:r>
              <a:rPr b="1" lang="en-US" sz="1200" spc="-1" strike="noStrike">
                <a:solidFill>
                  <a:srgbClr val="000000"/>
                </a:solidFill>
                <a:latin typeface="Arial"/>
                <a:ea typeface="Century Gothic"/>
              </a:rPr>
              <a:t>Win Themes: </a:t>
            </a:r>
            <a:r>
              <a:rPr b="0" lang="en-US" sz="1200" spc="-1" strike="noStrike">
                <a:solidFill>
                  <a:srgbClr val="000000"/>
                </a:solidFill>
                <a:latin typeface="Arial"/>
                <a:ea typeface="Century Gothic"/>
              </a:rPr>
              <a:t>&lt;win-themes&gt;</a:t>
            </a:r>
            <a:endParaRPr b="0" lang="en-US" sz="1200" spc="-1" strike="noStrike">
              <a:solidFill>
                <a:srgbClr val="000000"/>
              </a:solidFill>
              <a:latin typeface="Arial"/>
            </a:endParaRPr>
          </a:p>
        </p:txBody>
      </p:sp>
      <p:sp>
        <p:nvSpPr>
          <p:cNvPr id="269" name="Rectangle 149"/>
          <p:cNvSpPr/>
          <p:nvPr/>
        </p:nvSpPr>
        <p:spPr>
          <a:xfrm>
            <a:off x="156600" y="5661720"/>
            <a:ext cx="118440" cy="585000"/>
          </a:xfrm>
          <a:prstGeom prst="rect">
            <a:avLst/>
          </a:prstGeom>
          <a:solidFill>
            <a:srgbClr val="00ff00"/>
          </a:solidFill>
          <a:ln w="0">
            <a:solidFill>
              <a:srgbClr val="000000"/>
            </a:solid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rgbClr val="000000"/>
              </a:solidFill>
              <a:latin typeface="Arial"/>
              <a:ea typeface="DejaVu Sans"/>
            </a:endParaRPr>
          </a:p>
        </p:txBody>
      </p:sp>
      <p:sp>
        <p:nvSpPr>
          <p:cNvPr id="270" name="Google Shape;100;p 9"/>
          <p:cNvSpPr/>
          <p:nvPr/>
        </p:nvSpPr>
        <p:spPr>
          <a:xfrm>
            <a:off x="4595400" y="1524960"/>
            <a:ext cx="4388760" cy="600480"/>
          </a:xfrm>
          <a:prstGeom prst="rect">
            <a:avLst/>
          </a:prstGeom>
          <a:solidFill>
            <a:srgbClr val="d6d6d6"/>
          </a:solidFill>
          <a:ln w="0">
            <a:solidFill>
              <a:srgbClr val="000000"/>
            </a:solidFill>
          </a:ln>
        </p:spPr>
        <p:style>
          <a:lnRef idx="0"/>
          <a:fillRef idx="0"/>
          <a:effectRef idx="0"/>
          <a:fontRef idx="minor"/>
        </p:style>
        <p:txBody>
          <a:bodyPr tIns="91440" bIns="91440" anchor="t">
            <a:noAutofit/>
          </a:bodyPr>
          <a:p>
            <a:r>
              <a:t>Staffing/Schedule: Month 1: Program kickoff briefing and detailed technical approach, Month 5: Technical integration workshop with interface specifications, Month 10: Integration event demonstrating data exchange with evaluation environment, Month 26: Integrated demonstration with operational stakeholders, Month 29: Phase 1 capstone demonstration</a:t>
            </a:r>
          </a:p>
        </p:txBody>
      </p:sp>
      <p:sp>
        <p:nvSpPr>
          <p:cNvPr id="271" name="Google Shape;100;p 10"/>
          <p:cNvSpPr/>
          <p:nvPr/>
        </p:nvSpPr>
        <p:spPr>
          <a:xfrm>
            <a:off x="4595400" y="2112120"/>
            <a:ext cx="4388760" cy="641520"/>
          </a:xfrm>
          <a:prstGeom prst="rect">
            <a:avLst/>
          </a:prstGeom>
          <a:solidFill>
            <a:srgbClr val="d6d6d6"/>
          </a:solidFill>
          <a:ln w="0">
            <a:solidFill>
              <a:srgbClr val="000000"/>
            </a:solidFill>
          </a:ln>
        </p:spPr>
        <p:style>
          <a:lnRef idx="0"/>
          <a:fillRef idx="0"/>
          <a:effectRef idx="0"/>
          <a:fontRef idx="minor"/>
        </p:style>
        <p:txBody>
          <a:bodyPr tIns="91440" bIns="91440" anchor="t">
            <a:noAutofit/>
          </a:bodyPr>
          <a:p>
            <a:r>
              <a:t>Risks: Plan conditioning may require more detail than RapidPlan can efficiently generate. Unity game engine may not meet classification requirements for TOP SECRET/SCI. Integration between independently developed TA1 and TA2 components may prove difficult.</a:t>
            </a:r>
          </a:p>
        </p:txBody>
      </p:sp>
      <p:sp>
        <p:nvSpPr>
          <p:cNvPr id="272" name="Rectangle 153"/>
          <p:cNvSpPr/>
          <p:nvPr/>
        </p:nvSpPr>
        <p:spPr>
          <a:xfrm>
            <a:off x="4485960" y="2112120"/>
            <a:ext cx="118440" cy="642240"/>
          </a:xfrm>
          <a:prstGeom prst="rect">
            <a:avLst/>
          </a:prstGeom>
          <a:solidFill>
            <a:srgbClr val="00ff00"/>
          </a:solidFill>
          <a:ln w="0">
            <a:solidFill>
              <a:srgbClr val="000000"/>
            </a:solid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rgbClr val="000000"/>
              </a:solidFill>
              <a:latin typeface="Arial"/>
              <a:ea typeface="DejaVu Sans"/>
            </a:endParaRPr>
          </a:p>
        </p:txBody>
      </p:sp>
      <p:sp>
        <p:nvSpPr>
          <p:cNvPr id="273" name="Google Shape;100;p 11"/>
          <p:cNvSpPr/>
          <p:nvPr/>
        </p:nvSpPr>
        <p:spPr>
          <a:xfrm>
            <a:off x="4595400" y="2724840"/>
            <a:ext cx="4388760" cy="622800"/>
          </a:xfrm>
          <a:prstGeom prst="rect">
            <a:avLst/>
          </a:prstGeom>
          <a:solidFill>
            <a:srgbClr val="d6d6d6"/>
          </a:solidFill>
          <a:ln w="0">
            <a:solidFill>
              <a:srgbClr val="000000"/>
            </a:solidFill>
          </a:ln>
        </p:spPr>
        <p:style>
          <a:lnRef idx="0"/>
          <a:fillRef idx="0"/>
          <a:effectRef idx="0"/>
          <a:fontRef idx="minor"/>
        </p:style>
        <p:txBody>
          <a:bodyPr tIns="91440" bIns="91440" anchor="t">
            <a:noAutofit/>
          </a:bodyPr>
          <a:p>
            <a:pPr defTabSz="914400">
              <a:lnSpc>
                <a:spcPct val="115000"/>
              </a:lnSpc>
              <a:spcBef>
                <a:spcPts val="1191"/>
              </a:spcBef>
              <a:spcAft>
                <a:spcPts val="992"/>
              </a:spcAft>
            </a:pPr>
            <a:r>
              <a:rPr b="1" lang="en-US" sz="1200" spc="-1" strike="noStrike">
                <a:solidFill>
                  <a:srgbClr val="000000"/>
                </a:solidFill>
                <a:latin typeface="Arial"/>
                <a:ea typeface="Century Gothic"/>
              </a:rPr>
              <a:t>Portfolio Goals: </a:t>
            </a:r>
            <a:r>
              <a:rPr b="0" lang="en-US" sz="1200" spc="-1" strike="noStrike">
                <a:solidFill>
                  <a:srgbClr val="000000"/>
                </a:solidFill>
                <a:latin typeface="Arial"/>
                <a:ea typeface="Century Gothic"/>
              </a:rPr>
              <a:t>&lt;portfolio-goals&gt;</a:t>
            </a:r>
            <a:endParaRPr b="0" lang="en-US" sz="1200" spc="-1" strike="noStrike">
              <a:solidFill>
                <a:srgbClr val="000000"/>
              </a:solidFill>
              <a:latin typeface="Arial"/>
            </a:endParaRPr>
          </a:p>
        </p:txBody>
      </p:sp>
      <p:sp>
        <p:nvSpPr>
          <p:cNvPr id="274" name="Rectangle 155"/>
          <p:cNvSpPr/>
          <p:nvPr/>
        </p:nvSpPr>
        <p:spPr>
          <a:xfrm>
            <a:off x="4485960" y="2724840"/>
            <a:ext cx="118440" cy="622800"/>
          </a:xfrm>
          <a:prstGeom prst="rect">
            <a:avLst/>
          </a:prstGeom>
          <a:solidFill>
            <a:srgbClr val="00ff00"/>
          </a:solidFill>
          <a:ln w="0">
            <a:solidFill>
              <a:srgbClr val="000000"/>
            </a:solid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rgbClr val="000000"/>
              </a:solidFill>
              <a:latin typeface="Arial"/>
              <a:ea typeface="DejaVu Sans"/>
            </a:endParaRPr>
          </a:p>
        </p:txBody>
      </p:sp>
      <p:sp>
        <p:nvSpPr>
          <p:cNvPr id="275" name="Google Shape;100;p 12"/>
          <p:cNvSpPr/>
          <p:nvPr/>
        </p:nvSpPr>
        <p:spPr>
          <a:xfrm>
            <a:off x="4595400" y="3311280"/>
            <a:ext cx="4388760" cy="622800"/>
          </a:xfrm>
          <a:prstGeom prst="rect">
            <a:avLst/>
          </a:prstGeom>
          <a:solidFill>
            <a:srgbClr val="d6d6d6"/>
          </a:solidFill>
          <a:ln w="0">
            <a:solidFill>
              <a:srgbClr val="000000"/>
            </a:solidFill>
          </a:ln>
        </p:spPr>
        <p:style>
          <a:lnRef idx="0"/>
          <a:fillRef idx="0"/>
          <a:effectRef idx="0"/>
          <a:fontRef idx="minor"/>
        </p:style>
        <p:txBody>
          <a:bodyPr tIns="91440" bIns="91440" anchor="t">
            <a:noAutofit/>
          </a:bodyPr>
          <a:p>
            <a:pPr defTabSz="914400">
              <a:lnSpc>
                <a:spcPct val="115000"/>
              </a:lnSpc>
              <a:spcBef>
                <a:spcPts val="1191"/>
              </a:spcBef>
              <a:spcAft>
                <a:spcPts val="992"/>
              </a:spcAft>
            </a:pPr>
            <a:r>
              <a:rPr b="1" lang="en-US" sz="1200" spc="-1" strike="noStrike">
                <a:solidFill>
                  <a:srgbClr val="000000"/>
                </a:solidFill>
                <a:latin typeface="Arial"/>
                <a:ea typeface="Century Gothic"/>
              </a:rPr>
              <a:t>Strategic Goals: </a:t>
            </a:r>
            <a:r>
              <a:rPr b="0" lang="en-US" sz="1200" spc="-1" strike="noStrike">
                <a:solidFill>
                  <a:srgbClr val="000000"/>
                </a:solidFill>
                <a:latin typeface="Arial"/>
                <a:ea typeface="Century Gothic"/>
              </a:rPr>
              <a:t>&lt;strategic-goals&gt;</a:t>
            </a:r>
            <a:endParaRPr b="0" lang="en-US" sz="1200" spc="-1" strike="noStrike">
              <a:solidFill>
                <a:srgbClr val="000000"/>
              </a:solidFill>
              <a:latin typeface="Arial"/>
            </a:endParaRPr>
          </a:p>
        </p:txBody>
      </p:sp>
      <p:sp>
        <p:nvSpPr>
          <p:cNvPr id="276" name="Rectangle 157"/>
          <p:cNvSpPr/>
          <p:nvPr/>
        </p:nvSpPr>
        <p:spPr>
          <a:xfrm>
            <a:off x="4485960" y="3311280"/>
            <a:ext cx="118440" cy="622800"/>
          </a:xfrm>
          <a:prstGeom prst="rect">
            <a:avLst/>
          </a:prstGeom>
          <a:solidFill>
            <a:srgbClr val="00ff00"/>
          </a:solidFill>
          <a:ln w="0">
            <a:solidFill>
              <a:srgbClr val="000000"/>
            </a:solid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rgbClr val="000000"/>
              </a:solidFill>
              <a:latin typeface="Arial"/>
              <a:ea typeface="DejaVu Sans"/>
            </a:endParaRPr>
          </a:p>
        </p:txBody>
      </p:sp>
      <p:sp>
        <p:nvSpPr>
          <p:cNvPr id="277" name="Google Shape;100;p 13"/>
          <p:cNvSpPr/>
          <p:nvPr/>
        </p:nvSpPr>
        <p:spPr>
          <a:xfrm>
            <a:off x="4595400" y="3887280"/>
            <a:ext cx="4388760" cy="1153080"/>
          </a:xfrm>
          <a:prstGeom prst="rect">
            <a:avLst/>
          </a:prstGeom>
          <a:solidFill>
            <a:srgbClr val="d6d6d6"/>
          </a:solidFill>
          <a:ln w="0">
            <a:solidFill>
              <a:srgbClr val="000000"/>
            </a:solidFill>
          </a:ln>
        </p:spPr>
        <p:style>
          <a:lnRef idx="0"/>
          <a:fillRef idx="0"/>
          <a:effectRef idx="0"/>
          <a:fontRef idx="minor"/>
        </p:style>
        <p:txBody>
          <a:bodyPr tIns="91440" bIns="91440" anchor="t">
            <a:noAutofit/>
          </a:bodyPr>
          <a:p>
            <a:r>
              <a:t>Financials: ● C2C – $38,500,000● Rev– &lt;revenue&gt;● GA-i3 Rev– &lt;ga-i3-revenue&gt;● Gross Margin – &lt;gross-margin&gt;</a:t>
            </a:r>
          </a:p>
        </p:txBody>
      </p:sp>
      <p:sp>
        <p:nvSpPr>
          <p:cNvPr id="278" name="Rectangle 159"/>
          <p:cNvSpPr/>
          <p:nvPr/>
        </p:nvSpPr>
        <p:spPr>
          <a:xfrm>
            <a:off x="4485960" y="3887280"/>
            <a:ext cx="118440" cy="1153080"/>
          </a:xfrm>
          <a:prstGeom prst="rect">
            <a:avLst/>
          </a:prstGeom>
          <a:solidFill>
            <a:srgbClr val="fcd54e"/>
          </a:solidFill>
          <a:ln w="0">
            <a:solidFill>
              <a:srgbClr val="000000"/>
            </a:solid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rgbClr val="000000"/>
              </a:solidFill>
              <a:latin typeface="Arial"/>
              <a:ea typeface="DejaVu Sans"/>
            </a:endParaRPr>
          </a:p>
        </p:txBody>
      </p:sp>
      <p:sp>
        <p:nvSpPr>
          <p:cNvPr id="279" name="Google Shape;100;p 14"/>
          <p:cNvSpPr/>
          <p:nvPr/>
        </p:nvSpPr>
        <p:spPr>
          <a:xfrm>
            <a:off x="4476600" y="5248440"/>
            <a:ext cx="4507560" cy="1012680"/>
          </a:xfrm>
          <a:prstGeom prst="rect">
            <a:avLst/>
          </a:prstGeom>
          <a:solidFill>
            <a:srgbClr val="d4e4fa"/>
          </a:solidFill>
          <a:ln w="0">
            <a:solidFill>
              <a:srgbClr val="000000"/>
            </a:solidFill>
          </a:ln>
        </p:spPr>
        <p:style>
          <a:lnRef idx="0"/>
          <a:fillRef idx="0"/>
          <a:effectRef idx="0"/>
          <a:fontRef idx="minor"/>
        </p:style>
        <p:txBody>
          <a:bodyPr tIns="91440" bIns="91440" anchor="t">
            <a:noAutofit/>
          </a:bodyPr>
          <a:p>
            <a:pPr defTabSz="914400">
              <a:lnSpc>
                <a:spcPct val="115000"/>
              </a:lnSpc>
              <a:spcBef>
                <a:spcPts val="1191"/>
              </a:spcBef>
              <a:spcAft>
                <a:spcPts val="992"/>
              </a:spcAft>
            </a:pPr>
            <a:r>
              <a:rPr b="1" lang="en-US" sz="1200" spc="-1" strike="noStrike">
                <a:solidFill>
                  <a:srgbClr val="000000"/>
                </a:solidFill>
                <a:latin typeface="Arial"/>
                <a:ea typeface="Century Gothic"/>
              </a:rPr>
              <a:t>Successful Outcome: &lt;successful-outcome&gt;</a:t>
            </a:r>
            <a:endParaRPr b="0" lang="en-US" sz="1200" spc="-1" strike="noStrike">
              <a:solidFill>
                <a:srgbClr val="000000"/>
              </a:solidFill>
              <a:latin typeface="Arial"/>
            </a:endParaRPr>
          </a:p>
        </p:txBody>
      </p:sp>
      <p:sp>
        <p:nvSpPr>
          <p:cNvPr id="280" name="Google Shape;100;p 15"/>
          <p:cNvSpPr/>
          <p:nvPr/>
        </p:nvSpPr>
        <p:spPr>
          <a:xfrm>
            <a:off x="311040" y="381240"/>
            <a:ext cx="374400" cy="273960"/>
          </a:xfrm>
          <a:prstGeom prst="rect">
            <a:avLst/>
          </a:prstGeom>
          <a:solidFill>
            <a:srgbClr val="d6d6d6"/>
          </a:solidFill>
          <a:ln w="0">
            <a:solidFill>
              <a:srgbClr val="000000"/>
            </a:solidFill>
          </a:ln>
        </p:spPr>
        <p:style>
          <a:lnRef idx="0"/>
          <a:fillRef idx="0"/>
          <a:effectRef idx="0"/>
          <a:fontRef idx="minor"/>
        </p:style>
        <p:txBody>
          <a:bodyPr lIns="90000" rIns="90000" tIns="137160" bIns="137160" anchor="ctr">
            <a:noAutofit/>
          </a:bodyPr>
          <a:p>
            <a:pPr defTabSz="914400">
              <a:lnSpc>
                <a:spcPct val="100000"/>
              </a:lnSpc>
            </a:pPr>
            <a:r>
              <a:rPr b="1" lang="en-US" sz="1200" spc="-1" strike="noStrike">
                <a:solidFill>
                  <a:srgbClr val="000000"/>
                </a:solidFill>
                <a:latin typeface="Arial"/>
                <a:ea typeface="Century Gothic"/>
              </a:rPr>
              <a:t>LL</a:t>
            </a:r>
            <a:endParaRPr b="0" lang="en-US" sz="1200" spc="-1" strike="noStrike">
              <a:solidFill>
                <a:srgbClr val="000000"/>
              </a:solidFill>
              <a:latin typeface="Arial"/>
            </a:endParaRPr>
          </a:p>
        </p:txBody>
      </p:sp>
      <p:sp>
        <p:nvSpPr>
          <p:cNvPr id="281" name="Google Shape;100;p 16"/>
          <p:cNvSpPr/>
          <p:nvPr/>
        </p:nvSpPr>
        <p:spPr>
          <a:xfrm>
            <a:off x="685800" y="381240"/>
            <a:ext cx="548280" cy="273960"/>
          </a:xfrm>
          <a:prstGeom prst="rect">
            <a:avLst/>
          </a:prstGeom>
          <a:solidFill>
            <a:srgbClr val="d6d6d6"/>
          </a:solidFill>
          <a:ln w="0">
            <a:solidFill>
              <a:srgbClr val="000000"/>
            </a:solidFill>
          </a:ln>
        </p:spPr>
        <p:style>
          <a:lnRef idx="0"/>
          <a:fillRef idx="0"/>
          <a:effectRef idx="0"/>
          <a:fontRef idx="minor"/>
        </p:style>
        <p:txBody>
          <a:bodyPr lIns="90000" rIns="90000" tIns="137160" bIns="137160" anchor="ctr">
            <a:noAutofit/>
          </a:bodyPr>
          <a:p>
            <a:pPr defTabSz="914400">
              <a:lnSpc>
                <a:spcPct val="100000"/>
              </a:lnSpc>
            </a:pPr>
            <a:r>
              <a:rPr b="1" lang="en-US" sz="1200" spc="-1" strike="noStrike">
                <a:solidFill>
                  <a:srgbClr val="000000"/>
                </a:solidFill>
                <a:latin typeface="Arial"/>
                <a:ea typeface="Century Gothic"/>
              </a:rPr>
              <a:t>dRFI</a:t>
            </a:r>
            <a:endParaRPr b="0" lang="en-US" sz="1200" spc="-1" strike="noStrike">
              <a:solidFill>
                <a:srgbClr val="000000"/>
              </a:solidFill>
              <a:latin typeface="Arial"/>
            </a:endParaRPr>
          </a:p>
        </p:txBody>
      </p:sp>
      <p:sp>
        <p:nvSpPr>
          <p:cNvPr id="282" name="Google Shape;100;p 17"/>
          <p:cNvSpPr/>
          <p:nvPr/>
        </p:nvSpPr>
        <p:spPr>
          <a:xfrm>
            <a:off x="2263680" y="381240"/>
            <a:ext cx="502560" cy="273960"/>
          </a:xfrm>
          <a:prstGeom prst="rect">
            <a:avLst/>
          </a:prstGeom>
          <a:solidFill>
            <a:srgbClr val="d6d6d6"/>
          </a:solidFill>
          <a:ln w="0">
            <a:solidFill>
              <a:srgbClr val="000000"/>
            </a:solidFill>
          </a:ln>
        </p:spPr>
        <p:style>
          <a:lnRef idx="0"/>
          <a:fillRef idx="0"/>
          <a:effectRef idx="0"/>
          <a:fontRef idx="minor"/>
        </p:style>
        <p:txBody>
          <a:bodyPr lIns="90000" rIns="90000" tIns="137160" bIns="137160" anchor="ctr">
            <a:noAutofit/>
          </a:bodyPr>
          <a:p>
            <a:pPr defTabSz="914400">
              <a:lnSpc>
                <a:spcPct val="100000"/>
              </a:lnSpc>
            </a:pPr>
            <a:r>
              <a:rPr b="1" lang="en-US" sz="1200" spc="-1" strike="noStrike">
                <a:solidFill>
                  <a:srgbClr val="000000"/>
                </a:solidFill>
                <a:latin typeface="Arial"/>
                <a:ea typeface="DejaVu Sans"/>
              </a:rPr>
              <a:t>RFP</a:t>
            </a:r>
            <a:endParaRPr b="0" lang="en-US" sz="1200" spc="-1" strike="noStrike">
              <a:solidFill>
                <a:srgbClr val="000000"/>
              </a:solidFill>
              <a:latin typeface="Arial"/>
            </a:endParaRPr>
          </a:p>
        </p:txBody>
      </p:sp>
      <p:sp>
        <p:nvSpPr>
          <p:cNvPr id="283" name="Google Shape;100;p 18"/>
          <p:cNvSpPr/>
          <p:nvPr/>
        </p:nvSpPr>
        <p:spPr>
          <a:xfrm>
            <a:off x="2773800" y="381240"/>
            <a:ext cx="594000" cy="273960"/>
          </a:xfrm>
          <a:prstGeom prst="rect">
            <a:avLst/>
          </a:prstGeom>
          <a:solidFill>
            <a:srgbClr val="d6d6d6"/>
          </a:solidFill>
          <a:ln w="0">
            <a:solidFill>
              <a:srgbClr val="000000"/>
            </a:solidFill>
          </a:ln>
        </p:spPr>
        <p:style>
          <a:lnRef idx="0"/>
          <a:fillRef idx="0"/>
          <a:effectRef idx="0"/>
          <a:fontRef idx="minor"/>
        </p:style>
        <p:txBody>
          <a:bodyPr lIns="90000" rIns="90000" tIns="137160" bIns="137160" anchor="ctr">
            <a:noAutofit/>
          </a:bodyPr>
          <a:p>
            <a:pPr defTabSz="914400">
              <a:lnSpc>
                <a:spcPct val="100000"/>
              </a:lnSpc>
            </a:pPr>
            <a:r>
              <a:rPr b="1" lang="en-US" sz="1200" spc="-1" strike="noStrike">
                <a:solidFill>
                  <a:srgbClr val="000000"/>
                </a:solidFill>
                <a:latin typeface="Arial"/>
                <a:ea typeface="Century Gothic"/>
              </a:rPr>
              <a:t>Other</a:t>
            </a:r>
            <a:endParaRPr b="0" lang="en-US" sz="1200" spc="-1" strike="noStrike">
              <a:solidFill>
                <a:srgbClr val="000000"/>
              </a:solidFill>
              <a:latin typeface="Arial"/>
            </a:endParaRPr>
          </a:p>
        </p:txBody>
      </p:sp>
      <p:sp>
        <p:nvSpPr>
          <p:cNvPr id="284" name="TextBox 166"/>
          <p:cNvSpPr/>
          <p:nvPr/>
        </p:nvSpPr>
        <p:spPr>
          <a:xfrm>
            <a:off x="6867000" y="932040"/>
            <a:ext cx="2397600" cy="51552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000" spc="-1" strike="noStrike">
                <a:solidFill>
                  <a:srgbClr val="000000"/>
                </a:solidFill>
                <a:latin typeface="Arial"/>
                <a:ea typeface="DejaVu Sans"/>
              </a:rPr>
              <a:t>To Be Briefed: &lt;briefing-status&gt;</a:t>
            </a:r>
            <a:br>
              <a:rPr sz="1000"/>
            </a:br>
            <a:r>
              <a:rPr b="1" lang="en-US" sz="1000" spc="-1" strike="noStrike">
                <a:solidFill>
                  <a:schemeClr val="lt1">
                    <a:lumMod val="49000"/>
                  </a:schemeClr>
                </a:solidFill>
                <a:latin typeface="Arial"/>
                <a:ea typeface="DejaVu Sans"/>
              </a:rPr>
              <a:t>Approval: &lt;approval-status&gt;</a:t>
            </a:r>
            <a:br>
              <a:rPr sz="1000"/>
            </a:br>
            <a:r>
              <a:rPr b="1" lang="en-US" sz="1000" spc="-1" strike="noStrike">
                <a:solidFill>
                  <a:schemeClr val="lt1">
                    <a:lumMod val="49000"/>
                  </a:schemeClr>
                </a:solidFill>
                <a:latin typeface="Arial"/>
                <a:ea typeface="DejaVu Sans"/>
              </a:rPr>
              <a:t>Goldenrod: &lt;goldenrod-status&gt;</a:t>
            </a:r>
            <a:endParaRPr b="0" lang="en-US" sz="1000" spc="-1" strike="noStrike">
              <a:solidFill>
                <a:srgbClr val="000000"/>
              </a:solidFill>
              <a:latin typeface="Arial"/>
            </a:endParaRPr>
          </a:p>
        </p:txBody>
      </p:sp>
      <p:sp>
        <p:nvSpPr>
          <p:cNvPr id="285" name="Google Shape;100;p 19"/>
          <p:cNvSpPr/>
          <p:nvPr/>
        </p:nvSpPr>
        <p:spPr>
          <a:xfrm>
            <a:off x="1235880" y="381240"/>
            <a:ext cx="438840" cy="273960"/>
          </a:xfrm>
          <a:prstGeom prst="rect">
            <a:avLst/>
          </a:prstGeom>
          <a:solidFill>
            <a:srgbClr val="ff0000"/>
          </a:solidFill>
          <a:ln w="0">
            <a:solidFill>
              <a:srgbClr val="000000"/>
            </a:solidFill>
          </a:ln>
        </p:spPr>
        <p:style>
          <a:lnRef idx="0"/>
          <a:fillRef idx="0"/>
          <a:effectRef idx="0"/>
          <a:fontRef idx="minor"/>
        </p:style>
        <p:txBody>
          <a:bodyPr lIns="90000" rIns="90000" tIns="137160" bIns="137160" anchor="ctr">
            <a:noAutofit/>
          </a:bodyPr>
          <a:p>
            <a:pPr defTabSz="914400">
              <a:lnSpc>
                <a:spcPct val="100000"/>
              </a:lnSpc>
            </a:pPr>
            <a:r>
              <a:rPr b="1" lang="en-US" sz="1200" spc="-1" strike="noStrike">
                <a:solidFill>
                  <a:srgbClr val="000000"/>
                </a:solidFill>
                <a:latin typeface="Arial"/>
                <a:ea typeface="DejaVu Sans"/>
              </a:rPr>
              <a:t>RFI</a:t>
            </a:r>
            <a:endParaRPr b="0" lang="en-US" sz="1200" spc="-1" strike="noStrike">
              <a:solidFill>
                <a:srgbClr val="ffffff"/>
              </a:solidFill>
              <a:latin typeface="Arial"/>
            </a:endParaRPr>
          </a:p>
        </p:txBody>
      </p:sp>
      <p:sp>
        <p:nvSpPr>
          <p:cNvPr id="286" name="Google Shape;100;p 20"/>
          <p:cNvSpPr/>
          <p:nvPr/>
        </p:nvSpPr>
        <p:spPr>
          <a:xfrm>
            <a:off x="1665720" y="381240"/>
            <a:ext cx="594000" cy="273960"/>
          </a:xfrm>
          <a:prstGeom prst="rect">
            <a:avLst/>
          </a:prstGeom>
          <a:solidFill>
            <a:schemeClr val="bg1">
              <a:lumMod val="85000"/>
            </a:schemeClr>
          </a:solidFill>
          <a:ln w="0">
            <a:solidFill>
              <a:srgbClr val="000000"/>
            </a:solidFill>
          </a:ln>
        </p:spPr>
        <p:style>
          <a:lnRef idx="0"/>
          <a:fillRef idx="0"/>
          <a:effectRef idx="0"/>
          <a:fontRef idx="minor"/>
        </p:style>
        <p:txBody>
          <a:bodyPr lIns="90000" rIns="90000" tIns="137160" bIns="137160" anchor="ctr">
            <a:noAutofit/>
          </a:bodyPr>
          <a:p>
            <a:pPr defTabSz="914400">
              <a:lnSpc>
                <a:spcPct val="100000"/>
              </a:lnSpc>
            </a:pPr>
            <a:r>
              <a:rPr b="1" lang="en-US" sz="1200" spc="-1" strike="noStrike">
                <a:solidFill>
                  <a:srgbClr val="000000"/>
                </a:solidFill>
                <a:latin typeface="Arial"/>
                <a:ea typeface="Century Gothic"/>
              </a:rPr>
              <a:t>dRFP</a:t>
            </a:r>
            <a:endParaRPr b="0" lang="en-US" sz="1200" spc="-1" strike="noStrike">
              <a:solidFill>
                <a:srgbClr val="000000"/>
              </a:solidFill>
              <a:latin typeface="Arial"/>
            </a:endParaRPr>
          </a:p>
        </p:txBody>
      </p:sp>
      <p:sp>
        <p:nvSpPr>
          <p:cNvPr id="287" name="TextBox 169"/>
          <p:cNvSpPr/>
          <p:nvPr/>
        </p:nvSpPr>
        <p:spPr>
          <a:xfrm>
            <a:off x="462240" y="6510600"/>
            <a:ext cx="2751840" cy="2610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000" spc="-1" strike="noStrike">
                <a:solidFill>
                  <a:srgbClr val="ffffff"/>
                </a:solidFill>
                <a:latin typeface="Arial"/>
                <a:ea typeface="Arial"/>
              </a:rPr>
              <a:t>MDA-250083-BNB-20250904.v1.RFI</a:t>
            </a:r>
            <a:endParaRPr b="0" lang="en-US" sz="1000" spc="-1" strike="noStrike">
              <a:solidFill>
                <a:srgbClr val="000000"/>
              </a:solidFill>
              <a:latin typeface="Arial"/>
            </a:endParaRPr>
          </a:p>
        </p:txBody>
      </p:sp>
      <p:sp>
        <p:nvSpPr>
          <p:cNvPr id="288" name="Rectangle 1"/>
          <p:cNvSpPr/>
          <p:nvPr/>
        </p:nvSpPr>
        <p:spPr>
          <a:xfrm>
            <a:off x="4485960" y="1524960"/>
            <a:ext cx="118440" cy="603360"/>
          </a:xfrm>
          <a:prstGeom prst="rect">
            <a:avLst/>
          </a:prstGeom>
          <a:solidFill>
            <a:srgbClr val="00ff00"/>
          </a:solidFill>
          <a:ln w="0">
            <a:solidFill>
              <a:srgbClr val="000000"/>
            </a:solid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0" y="0"/>
            <a:ext cx="9143280" cy="913680"/>
          </a:xfrm>
          <a:prstGeom prst="rect">
            <a:avLst/>
          </a:prstGeom>
          <a:noFill/>
          <a:ln w="0">
            <a:noFill/>
          </a:ln>
        </p:spPr>
        <p:txBody>
          <a:bodyPr lIns="90000" rIns="90000" tIns="45000" bIns="45000" anchor="ctr">
            <a:noAutofit/>
          </a:bodyPr>
          <a:p>
            <a:pPr indent="0" defTabSz="914400">
              <a:lnSpc>
                <a:spcPct val="100000"/>
              </a:lnSpc>
              <a:buNone/>
            </a:pPr>
            <a:r>
              <a:rPr b="1" lang="en-US" sz="2400" spc="-1" strike="noStrike">
                <a:solidFill>
                  <a:srgbClr val="000000"/>
                </a:solidFill>
                <a:latin typeface="Century Gothic"/>
                <a:ea typeface="Century Gothic"/>
              </a:rPr>
              <a:t>250068 - Toretto RFP</a:t>
            </a:r>
            <a:endParaRPr b="0" lang="en-US" sz="2400" spc="-1" strike="noStrike">
              <a:solidFill>
                <a:schemeClr val="dk1"/>
              </a:solidFill>
              <a:latin typeface="Arial"/>
            </a:endParaRPr>
          </a:p>
        </p:txBody>
      </p:sp>
      <p:sp>
        <p:nvSpPr>
          <p:cNvPr id="290" name="Google Shape;105;p25"/>
          <p:cNvSpPr/>
          <p:nvPr/>
        </p:nvSpPr>
        <p:spPr>
          <a:xfrm>
            <a:off x="-2520" y="915840"/>
            <a:ext cx="7230240" cy="1458360"/>
          </a:xfrm>
          <a:prstGeom prst="rect">
            <a:avLst/>
          </a:prstGeom>
          <a:noFill/>
          <a:ln w="0">
            <a:noFill/>
          </a:ln>
        </p:spPr>
        <p:style>
          <a:lnRef idx="0"/>
          <a:fillRef idx="0"/>
          <a:effectRef idx="0"/>
          <a:fontRef idx="minor"/>
        </p:style>
        <p:txBody>
          <a:bodyPr lIns="90000" rIns="90000" tIns="91440" bIns="91440" anchor="t">
            <a:noAutofit/>
          </a:bodyPr>
          <a:p>
            <a:pPr defTabSz="914400">
              <a:lnSpc>
                <a:spcPct val="100000"/>
              </a:lnSpc>
            </a:pPr>
            <a:r>
              <a:rPr b="1" lang="en-US" sz="1600" spc="-1" strike="noStrike">
                <a:solidFill>
                  <a:srgbClr val="000000"/>
                </a:solidFill>
                <a:latin typeface="Century Gothic"/>
                <a:ea typeface="Century Gothic"/>
              </a:rPr>
              <a:t>Response Staffing</a:t>
            </a:r>
            <a:endParaRPr b="0" lang="en-US" sz="1600" spc="-1" strike="noStrike">
              <a:solidFill>
                <a:srgbClr val="000000"/>
              </a:solidFill>
              <a:latin typeface="Arial"/>
            </a:endParaRPr>
          </a:p>
          <a:p>
            <a:pPr defTabSz="914400">
              <a:lnSpc>
                <a:spcPct val="100000"/>
              </a:lnSpc>
            </a:pPr>
            <a:r>
              <a:rPr b="0" lang="en-US" sz="1600" spc="-1" strike="noStrike">
                <a:solidFill>
                  <a:srgbClr val="000000"/>
                </a:solidFill>
                <a:latin typeface="Century Gothic"/>
                <a:ea typeface="Century Gothic"/>
              </a:rPr>
              <a:t>{propose who will be needed for the response and LOE}</a:t>
            </a:r>
            <a:endParaRPr b="0" lang="en-US" sz="1600" spc="-1" strike="noStrike">
              <a:solidFill>
                <a:srgbClr val="000000"/>
              </a:solidFill>
              <a:latin typeface="Arial"/>
            </a:endParaRPr>
          </a:p>
        </p:txBody>
      </p:sp>
      <p:graphicFrame>
        <p:nvGraphicFramePr>
          <p:cNvPr id="291" name="Table 2"/>
          <p:cNvGraphicFramePr/>
          <p:nvPr/>
        </p:nvGraphicFramePr>
        <p:xfrm>
          <a:off x="207720" y="1535040"/>
          <a:ext cx="8443440" cy="1483200"/>
        </p:xfrm>
        <a:graphic>
          <a:graphicData uri="http://schemas.openxmlformats.org/drawingml/2006/table">
            <a:tbl>
              <a:tblPr/>
              <a:tblGrid>
                <a:gridCol w="2682720"/>
                <a:gridCol w="1077120"/>
                <a:gridCol w="4683960"/>
              </a:tblGrid>
              <a:tr h="370800">
                <a:tc>
                  <a:txBody>
                    <a:bodyPr anchor="t">
                      <a:noAutofit/>
                    </a:bodyPr>
                    <a:p>
                      <a:pPr defTabSz="914400">
                        <a:lnSpc>
                          <a:spcPct val="100000"/>
                        </a:lnSpc>
                      </a:pPr>
                      <a:r>
                        <a:rPr b="1" lang="en-US" sz="1400" spc="-1" strike="noStrike">
                          <a:solidFill>
                            <a:srgbClr val="ffffff"/>
                          </a:solidFill>
                          <a:latin typeface="Arial"/>
                          <a:ea typeface="Arial"/>
                        </a:rPr>
                        <a:t>Named Personnel </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002d96"/>
                    </a:solidFill>
                  </a:tcPr>
                </a:tc>
                <a:tc>
                  <a:txBody>
                    <a:bodyPr anchor="t">
                      <a:noAutofit/>
                    </a:bodyPr>
                    <a:p>
                      <a:pPr defTabSz="914400">
                        <a:lnSpc>
                          <a:spcPct val="100000"/>
                        </a:lnSpc>
                      </a:pPr>
                      <a:r>
                        <a:rPr b="1" lang="en-US" sz="1400" spc="-1" strike="noStrike">
                          <a:solidFill>
                            <a:srgbClr val="ffffff"/>
                          </a:solidFill>
                          <a:latin typeface="Arial"/>
                          <a:ea typeface="Arial"/>
                        </a:rPr>
                        <a:t>Est. Hours</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002d96"/>
                    </a:solidFill>
                  </a:tcPr>
                </a:tc>
                <a:tc>
                  <a:txBody>
                    <a:bodyPr anchor="t">
                      <a:noAutofit/>
                    </a:bodyPr>
                    <a:p>
                      <a:pPr defTabSz="914400">
                        <a:lnSpc>
                          <a:spcPct val="100000"/>
                        </a:lnSpc>
                      </a:pPr>
                      <a:r>
                        <a:rPr b="1" lang="en-US" sz="1400" spc="-1" strike="noStrike">
                          <a:solidFill>
                            <a:srgbClr val="ffffff"/>
                          </a:solidFill>
                          <a:latin typeface="Arial"/>
                          <a:ea typeface="Arial"/>
                        </a:rPr>
                        <a:t>Deliverables</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002d96"/>
                    </a:solidFill>
                  </a:tcPr>
                </a:tc>
              </a:tr>
              <a:tr h="370800">
                <a:tc>
                  <a:txBody>
                    <a:bodyPr anchor="t">
                      <a:noAutofit/>
                    </a:bodyPr>
                    <a:p>
                      <a:pPr defTabSz="914400">
                        <a:lnSpc>
                          <a:spcPct val="100000"/>
                        </a:lnSpc>
                      </a:pPr>
                      <a:r>
                        <a:rPr b="0" lang="en-US" sz="1200" spc="-1" strike="noStrike">
                          <a:solidFill>
                            <a:srgbClr val="000000"/>
                          </a:solidFill>
                          <a:latin typeface="Arial"/>
                          <a:ea typeface="DejaVu Sans"/>
                        </a:rPr>
                        <a:t>Junior Cannon</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8e7"/>
                    </a:solidFill>
                  </a:tcPr>
                </a:tc>
                <a:tc>
                  <a:txBody>
                    <a:bodyPr anchor="t">
                      <a:noAutofit/>
                    </a:bodyPr>
                    <a:p>
                      <a:pPr defTabSz="914400">
                        <a:lnSpc>
                          <a:spcPct val="100000"/>
                        </a:lnSpc>
                      </a:pPr>
                      <a:r>
                        <a:rPr b="0" lang="en-US" sz="1200" spc="-1" strike="noStrike">
                          <a:solidFill>
                            <a:srgbClr val="000000"/>
                          </a:solidFill>
                          <a:latin typeface="Arial"/>
                          <a:ea typeface="DejaVu Sans"/>
                        </a:rPr>
                        <a:t>6</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8e7"/>
                    </a:solidFill>
                  </a:tcPr>
                </a:tc>
                <a:tc>
                  <a:txBody>
                    <a:bodyPr anchor="t">
                      <a:noAutofit/>
                    </a:bodyPr>
                    <a:p>
                      <a:pPr defTabSz="914400">
                        <a:lnSpc>
                          <a:spcPct val="100000"/>
                        </a:lnSpc>
                      </a:pPr>
                      <a:r>
                        <a:rPr b="0" lang="en-US" sz="1200" spc="-1" strike="noStrike">
                          <a:solidFill>
                            <a:srgbClr val="000000"/>
                          </a:solidFill>
                          <a:latin typeface="Arial"/>
                          <a:ea typeface="Arial"/>
                        </a:rPr>
                        <a:t>Assist GA-ASI with white paper development</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8e7"/>
                    </a:solidFill>
                  </a:tcPr>
                </a:tc>
              </a:tr>
              <a:tr h="370800">
                <a:tc>
                  <a:txBody>
                    <a:bodyPr anchor="t">
                      <a:noAutofit/>
                    </a:bodyPr>
                    <a:p>
                      <a:pPr defTabSz="914400">
                        <a:lnSpc>
                          <a:spcPct val="100000"/>
                        </a:lnSpc>
                      </a:pPr>
                      <a:r>
                        <a:rPr b="0" lang="en-US" sz="1200" spc="-1" strike="noStrike">
                          <a:solidFill>
                            <a:srgbClr val="000000"/>
                          </a:solidFill>
                          <a:latin typeface="Arial"/>
                          <a:ea typeface="DejaVu Sans"/>
                        </a:rPr>
                        <a:t>Andy Cochrane</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914400">
                        <a:lnSpc>
                          <a:spcPct val="100000"/>
                        </a:lnSpc>
                      </a:pPr>
                      <a:r>
                        <a:rPr b="0" lang="en-US" sz="1200" spc="-1" strike="noStrike">
                          <a:solidFill>
                            <a:srgbClr val="000000"/>
                          </a:solidFill>
                          <a:latin typeface="Arial"/>
                          <a:ea typeface="DejaVu Sans"/>
                        </a:rPr>
                        <a:t>2</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914400">
                        <a:lnSpc>
                          <a:spcPct val="100000"/>
                        </a:lnSpc>
                      </a:pPr>
                      <a:r>
                        <a:rPr b="0" lang="en-US" sz="1200" spc="-1" strike="noStrike">
                          <a:solidFill>
                            <a:srgbClr val="000000"/>
                          </a:solidFill>
                          <a:latin typeface="Arial"/>
                          <a:ea typeface="DejaVu Sans"/>
                        </a:rPr>
                        <a:t>White paper review (as desired)</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370800">
                <a:tc>
                  <a:txBody>
                    <a:bodyPr anchor="t">
                      <a:noAutofit/>
                    </a:bodyPr>
                    <a:p>
                      <a:pPr defTabSz="914400">
                        <a:lnSpc>
                          <a:spcPct val="100000"/>
                        </a:lnSpc>
                      </a:pPr>
                      <a:r>
                        <a:rPr b="0" lang="en-US" sz="1200" spc="-1" strike="noStrike">
                          <a:solidFill>
                            <a:schemeClr val="dk1"/>
                          </a:solidFill>
                          <a:latin typeface="Arial"/>
                          <a:ea typeface="DejaVu Sans"/>
                        </a:rPr>
                        <a:t>Poway Support</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914400">
                        <a:lnSpc>
                          <a:spcPct val="100000"/>
                        </a:lnSpc>
                      </a:pPr>
                      <a:r>
                        <a:rPr b="0" lang="en-US" sz="1200" spc="-1" strike="noStrike">
                          <a:solidFill>
                            <a:srgbClr val="000000"/>
                          </a:solidFill>
                          <a:latin typeface="Arial"/>
                          <a:ea typeface="DejaVu Sans"/>
                        </a:rPr>
                        <a:t>2</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914400">
                        <a:lnSpc>
                          <a:spcPct val="100000"/>
                        </a:lnSpc>
                      </a:pPr>
                      <a:r>
                        <a:rPr b="0" lang="en-US" sz="1200" spc="-1" strike="noStrike">
                          <a:solidFill>
                            <a:schemeClr val="dk1"/>
                          </a:solidFill>
                          <a:latin typeface="Arial"/>
                          <a:ea typeface="DejaVu Sans"/>
                        </a:rPr>
                        <a:t>File movement/creation </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graphicFrame>
        <p:nvGraphicFramePr>
          <p:cNvPr id="292" name="Table 4"/>
          <p:cNvGraphicFramePr/>
          <p:nvPr/>
        </p:nvGraphicFramePr>
        <p:xfrm>
          <a:off x="210960" y="3479040"/>
          <a:ext cx="8475480" cy="2733120"/>
        </p:xfrm>
        <a:graphic>
          <a:graphicData uri="http://schemas.openxmlformats.org/drawingml/2006/table">
            <a:tbl>
              <a:tblPr/>
              <a:tblGrid>
                <a:gridCol w="2679120"/>
                <a:gridCol w="5796360"/>
              </a:tblGrid>
              <a:tr h="405720">
                <a:tc>
                  <a:txBody>
                    <a:bodyPr anchor="t">
                      <a:noAutofit/>
                    </a:bodyPr>
                    <a:p>
                      <a:pPr defTabSz="914400">
                        <a:lnSpc>
                          <a:spcPct val="100000"/>
                        </a:lnSpc>
                      </a:pPr>
                      <a:r>
                        <a:rPr b="1" lang="en-US" sz="1400" spc="-1" strike="noStrike">
                          <a:solidFill>
                            <a:srgbClr val="ffffff"/>
                          </a:solidFill>
                          <a:latin typeface="Arial"/>
                          <a:ea typeface="Arial"/>
                        </a:rPr>
                        <a:t>Other Logistics</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002d96"/>
                    </a:solidFill>
                  </a:tcPr>
                </a:tc>
                <a:tc>
                  <a:txBody>
                    <a:bodyPr anchor="t">
                      <a:noAutofit/>
                    </a:bodyPr>
                    <a:p>
                      <a:pPr defTabSz="914400">
                        <a:lnSpc>
                          <a:spcPct val="100000"/>
                        </a:lnSpc>
                      </a:pPr>
                      <a:r>
                        <a:rPr b="1" lang="en-US" sz="1400" spc="-1" strike="noStrike">
                          <a:solidFill>
                            <a:srgbClr val="ffffff"/>
                          </a:solidFill>
                          <a:latin typeface="Arial"/>
                          <a:ea typeface="Arial"/>
                        </a:rPr>
                        <a:t>Details</a:t>
                      </a:r>
                      <a:endParaRPr b="0" lang="en-US" sz="14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002d96"/>
                    </a:solidFill>
                  </a:tcPr>
                </a:tc>
              </a:tr>
              <a:tr h="405720">
                <a:tc>
                  <a:txBody>
                    <a:bodyPr anchor="t">
                      <a:noAutofit/>
                    </a:bodyPr>
                    <a:p>
                      <a:pPr defTabSz="914400">
                        <a:lnSpc>
                          <a:spcPct val="100000"/>
                        </a:lnSpc>
                      </a:pPr>
                      <a:r>
                        <a:rPr b="0" lang="en-US" sz="1200" spc="-1" strike="noStrike">
                          <a:solidFill>
                            <a:srgbClr val="000000"/>
                          </a:solidFill>
                          <a:latin typeface="Arial"/>
                          <a:ea typeface="Arial"/>
                        </a:rPr>
                        <a:t>Win Theme(s)</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8e7"/>
                    </a:solidFill>
                  </a:tcPr>
                </a:tc>
                <a:tc>
                  <a:txBody>
                    <a:bodyPr anchor="t">
                      <a:noAutofit/>
                    </a:bodyPr>
                    <a:p>
                      <a:pPr defTabSz="914400">
                        <a:lnSpc>
                          <a:spcPct val="100000"/>
                        </a:lnSpc>
                      </a:pPr>
                      <a:r>
                        <a:rPr b="0" lang="en-US" sz="1200" spc="-1" strike="noStrike">
                          <a:solidFill>
                            <a:srgbClr val="000000"/>
                          </a:solidFill>
                          <a:latin typeface="Arial"/>
                          <a:ea typeface="DejaVu Sans"/>
                        </a:rPr>
                        <a:t>GA-ASI experience, DS platform with Volans and Sailfish, BD Apps context.</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8e7"/>
                    </a:solidFill>
                  </a:tcPr>
                </a:tc>
              </a:tr>
              <a:tr h="405720">
                <a:tc>
                  <a:txBody>
                    <a:bodyPr anchor="t">
                      <a:noAutofit/>
                    </a:bodyPr>
                    <a:p>
                      <a:pPr defTabSz="914400">
                        <a:lnSpc>
                          <a:spcPct val="100000"/>
                        </a:lnSpc>
                      </a:pPr>
                      <a:r>
                        <a:rPr b="0" lang="en-US" sz="1200" spc="-1" strike="noStrike">
                          <a:solidFill>
                            <a:srgbClr val="000000"/>
                          </a:solidFill>
                          <a:latin typeface="Arial"/>
                          <a:ea typeface="Arial"/>
                        </a:rPr>
                        <a:t>Our contribution/solution</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914400">
                        <a:lnSpc>
                          <a:spcPct val="100000"/>
                        </a:lnSpc>
                      </a:pPr>
                      <a:r>
                        <a:rPr b="0" lang="en-US" sz="1200" spc="-1" strike="noStrike">
                          <a:solidFill>
                            <a:srgbClr val="000000"/>
                          </a:solidFill>
                          <a:latin typeface="Arial"/>
                          <a:ea typeface="DejaVu Sans"/>
                        </a:rPr>
                        <a:t>Add our history of Chantilly client, cloud-native processing to GA-ASI's SAR expertise.</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541440">
                <a:tc>
                  <a:txBody>
                    <a:bodyPr anchor="t">
                      <a:noAutofit/>
                    </a:bodyPr>
                    <a:p>
                      <a:pPr defTabSz="914400">
                        <a:lnSpc>
                          <a:spcPct val="100000"/>
                        </a:lnSpc>
                      </a:pPr>
                      <a:r>
                        <a:rPr b="0" lang="en-US" sz="1200" spc="-1" strike="noStrike">
                          <a:solidFill>
                            <a:srgbClr val="000000"/>
                          </a:solidFill>
                          <a:latin typeface="Arial"/>
                          <a:ea typeface="Arial"/>
                        </a:rPr>
                        <a:t>Why do we want to bid?</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914400">
                        <a:lnSpc>
                          <a:spcPct val="100000"/>
                        </a:lnSpc>
                      </a:pPr>
                      <a:r>
                        <a:rPr b="0" lang="en-US" sz="1200" spc="-1" strike="noStrike">
                          <a:solidFill>
                            <a:srgbClr val="000000"/>
                          </a:solidFill>
                          <a:latin typeface="Arial"/>
                          <a:ea typeface="Arial"/>
                        </a:rPr>
                        <a:t>Expand our tech to other directorates within the Chantilly client. Advance GA-ASI's ability to partner on future work.</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405720">
                <a:tc>
                  <a:txBody>
                    <a:bodyPr anchor="t">
                      <a:noAutofit/>
                    </a:bodyPr>
                    <a:p>
                      <a:pPr defTabSz="914400">
                        <a:lnSpc>
                          <a:spcPct val="100000"/>
                        </a:lnSpc>
                      </a:pPr>
                      <a:r>
                        <a:rPr b="0" lang="en-US" sz="1200" spc="-1" strike="noStrike">
                          <a:solidFill>
                            <a:srgbClr val="000000"/>
                          </a:solidFill>
                          <a:latin typeface="Arial"/>
                          <a:ea typeface="Arial"/>
                        </a:rPr>
                        <a:t>What stage is this solicitation?</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914400">
                        <a:lnSpc>
                          <a:spcPct val="100000"/>
                        </a:lnSpc>
                      </a:pPr>
                      <a:r>
                        <a:rPr b="0" lang="en-US" sz="1200" spc="-1" strike="noStrike">
                          <a:solidFill>
                            <a:srgbClr val="000000"/>
                          </a:solidFill>
                          <a:latin typeface="Arial"/>
                          <a:ea typeface="Arial"/>
                        </a:rPr>
                        <a:t>RFP</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541440">
                <a:tc>
                  <a:txBody>
                    <a:bodyPr anchor="t">
                      <a:noAutofit/>
                    </a:bodyPr>
                    <a:p>
                      <a:pPr defTabSz="914400">
                        <a:lnSpc>
                          <a:spcPct val="100000"/>
                        </a:lnSpc>
                      </a:pPr>
                      <a:r>
                        <a:rPr b="0" lang="en-US" sz="1200" spc="-1" strike="noStrike">
                          <a:solidFill>
                            <a:srgbClr val="000000"/>
                          </a:solidFill>
                          <a:latin typeface="Arial"/>
                          <a:ea typeface="Arial"/>
                        </a:rPr>
                        <a:t>Team makeup</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914400">
                        <a:lnSpc>
                          <a:spcPct val="100000"/>
                        </a:lnSpc>
                      </a:pPr>
                      <a:r>
                        <a:rPr b="0" lang="en-US" sz="1200" spc="-1" strike="noStrike">
                          <a:solidFill>
                            <a:srgbClr val="000000"/>
                          </a:solidFill>
                          <a:latin typeface="Arial"/>
                          <a:ea typeface="Arial"/>
                        </a:rPr>
                        <a:t>GA-Intelligence provides staff assistance, augmenting GA-ASI's proposal. </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bl>
          </a:graphicData>
        </a:graphic>
      </p:graphicFrame>
      <p:sp>
        <p:nvSpPr>
          <p:cNvPr id="293" name="Google Shape;105;p25"/>
          <p:cNvSpPr/>
          <p:nvPr/>
        </p:nvSpPr>
        <p:spPr>
          <a:xfrm>
            <a:off x="-2520" y="3038040"/>
            <a:ext cx="7230240" cy="411840"/>
          </a:xfrm>
          <a:prstGeom prst="rect">
            <a:avLst/>
          </a:prstGeom>
          <a:noFill/>
          <a:ln w="0">
            <a:noFill/>
          </a:ln>
        </p:spPr>
        <p:style>
          <a:lnRef idx="0"/>
          <a:fillRef idx="0"/>
          <a:effectRef idx="0"/>
          <a:fontRef idx="minor"/>
        </p:style>
        <p:txBody>
          <a:bodyPr lIns="90000" rIns="90000" tIns="91440" bIns="91440" anchor="t">
            <a:noAutofit/>
          </a:bodyPr>
          <a:p>
            <a:pPr defTabSz="914400">
              <a:lnSpc>
                <a:spcPct val="100000"/>
              </a:lnSpc>
            </a:pPr>
            <a:r>
              <a:rPr b="1" lang="en-US" sz="1600" spc="-1" strike="noStrike">
                <a:solidFill>
                  <a:srgbClr val="000000"/>
                </a:solidFill>
                <a:latin typeface="Century Gothic"/>
                <a:ea typeface="Century Gothic"/>
              </a:rPr>
              <a:t>Detailed Alignment Questions</a:t>
            </a:r>
            <a:endParaRPr b="0" lang="en-US" sz="1600" spc="-1" strike="noStrike">
              <a:solidFill>
                <a:srgbClr val="000000"/>
              </a:solidFill>
              <a:latin typeface="Arial"/>
            </a:endParaRPr>
          </a:p>
        </p:txBody>
      </p:sp>
      <p:pic>
        <p:nvPicPr>
          <p:cNvPr id="294" name="Picture 210" descr=""/>
          <p:cNvPicPr/>
          <p:nvPr/>
        </p:nvPicPr>
        <p:blipFill>
          <a:blip r:embed="rId1"/>
          <a:stretch/>
        </p:blipFill>
        <p:spPr>
          <a:xfrm>
            <a:off x="7327800" y="372960"/>
            <a:ext cx="1371240" cy="585000"/>
          </a:xfrm>
          <a:prstGeom prst="rect">
            <a:avLst/>
          </a:prstGeom>
          <a:ln w="0">
            <a:noFill/>
          </a:ln>
        </p:spPr>
      </p:pic>
      <p:sp>
        <p:nvSpPr>
          <p:cNvPr id="295" name="TextBox 211"/>
          <p:cNvSpPr/>
          <p:nvPr/>
        </p:nvSpPr>
        <p:spPr>
          <a:xfrm>
            <a:off x="7341840" y="144360"/>
            <a:ext cx="1343160" cy="29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200" spc="-1" strike="noStrike">
                <a:solidFill>
                  <a:srgbClr val="000000"/>
                </a:solidFill>
                <a:latin typeface="Arial"/>
                <a:ea typeface="Century Gothic"/>
              </a:rPr>
              <a:t>Recommend</a:t>
            </a:r>
            <a:endParaRPr b="0" lang="en-US" sz="1200" spc="-1" strike="noStrike">
              <a:solidFill>
                <a:srgbClr val="000000"/>
              </a:solidFill>
              <a:latin typeface="Arial"/>
            </a:endParaRPr>
          </a:p>
        </p:txBody>
      </p:sp>
      <p:sp>
        <p:nvSpPr>
          <p:cNvPr id="296" name="TextBox 212"/>
          <p:cNvSpPr/>
          <p:nvPr/>
        </p:nvSpPr>
        <p:spPr>
          <a:xfrm>
            <a:off x="6867360" y="932400"/>
            <a:ext cx="2397600" cy="373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000" spc="-1" strike="noStrike">
                <a:solidFill>
                  <a:srgbClr val="b7b7b7"/>
                </a:solidFill>
                <a:latin typeface="Arial"/>
                <a:ea typeface="DejaVu Sans"/>
              </a:rPr>
              <a:t>Briefed: Fed BD 2025-07-21</a:t>
            </a:r>
            <a:br>
              <a:rPr sz="1000"/>
            </a:br>
            <a:r>
              <a:rPr b="1" lang="en-US" sz="1000" spc="-1" strike="noStrike">
                <a:solidFill>
                  <a:srgbClr val="b7b7b7"/>
                </a:solidFill>
                <a:latin typeface="Arial"/>
                <a:ea typeface="DejaVu Sans"/>
              </a:rPr>
              <a:t>Goldenrod: Not required this stage</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30C78F5B2911A4BBA0DEAD4B59DA1B0" ma:contentTypeVersion="16" ma:contentTypeDescription="Create a new document." ma:contentTypeScope="" ma:versionID="bafaa3eb0ba59f6cd92f818b20d5adc9">
  <xsd:schema xmlns:xsd="http://www.w3.org/2001/XMLSchema" xmlns:xs="http://www.w3.org/2001/XMLSchema" xmlns:p="http://schemas.microsoft.com/office/2006/metadata/properties" xmlns:ns2="62807ba1-b015-47aa-aec4-87ecc2fba1be" xmlns:ns3="c8b2d699-21a9-421a-b863-3c4c83a3274f" targetNamespace="http://schemas.microsoft.com/office/2006/metadata/properties" ma:root="true" ma:fieldsID="daeb34e1fb94a08b3e9b6dbb7714f9d8" ns2:_="" ns3:_="">
    <xsd:import namespace="62807ba1-b015-47aa-aec4-87ecc2fba1be"/>
    <xsd:import namespace="c8b2d699-21a9-421a-b863-3c4c83a3274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807ba1-b015-47aa-aec4-87ecc2fba1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6332bbe-3007-4da5-bb7d-d017ad8a5cf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b2d699-21a9-421a-b863-3c4c83a3274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ccc56343-2a3e-4a3b-870c-cd9334d507c7}" ma:internalName="TaxCatchAll" ma:showField="CatchAllData" ma:web="c8b2d699-21a9-421a-b863-3c4c83a3274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2807ba1-b015-47aa-aec4-87ecc2fba1be">
      <Terms xmlns="http://schemas.microsoft.com/office/infopath/2007/PartnerControls"/>
    </lcf76f155ced4ddcb4097134ff3c332f>
    <TaxCatchAll xmlns="c8b2d699-21a9-421a-b863-3c4c83a3274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708DC5-1683-467A-87C2-B5C1CFA01035}">
  <ds:schemaRefs>
    <ds:schemaRef ds:uri="62807ba1-b015-47aa-aec4-87ecc2fba1be"/>
    <ds:schemaRef ds:uri="c8b2d699-21a9-421a-b863-3c4c83a327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607B6C6-20B7-4EC4-9D6B-BC819BBA94FF}">
  <ds:schemaRefs>
    <ds:schemaRef ds:uri="62807ba1-b015-47aa-aec4-87ecc2fba1be"/>
    <ds:schemaRef ds:uri="c8b2d699-21a9-421a-b863-3c4c83a3274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C543BD2-B194-42C8-B253-FECAD255FA5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1_Office Theme</Template>
  <TotalTime>11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2023-06-21T18:35:42Z</dcterms:created>
  <dc:creator>Johnson, Alan</dc:creator>
  <dc:description/>
  <dc:language>en-US</dc:language>
  <cp:lastModifiedBy/>
  <dcterms:modified xsi:type="dcterms:W3CDTF">2025-12-09T16:06:43Z</dcterms:modified>
  <cp:revision>190</cp:revision>
  <dc:subject/>
  <dc:title>BNB – {Opp # Opp Name}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lianceAssetId">
    <vt:lpwstr/>
  </property>
  <property fmtid="{D5CDD505-2E9C-101B-9397-08002B2CF9AE}" pid="3" name="ContentTypeId">
    <vt:lpwstr>0x010100130C78F5B2911A4BBA0DEAD4B59DA1B0</vt:lpwstr>
  </property>
  <property fmtid="{D5CDD505-2E9C-101B-9397-08002B2CF9AE}" pid="4" name="MediaServiceImageTags">
    <vt:lpwstr/>
  </property>
  <property fmtid="{D5CDD505-2E9C-101B-9397-08002B2CF9AE}" pid="5" name="Notes">
    <vt:i4>1</vt:i4>
  </property>
  <property fmtid="{D5CDD505-2E9C-101B-9397-08002B2CF9AE}" pid="6" name="Order">
    <vt:r8>15600</vt:r8>
  </property>
  <property fmtid="{D5CDD505-2E9C-101B-9397-08002B2CF9AE}" pid="7" name="PresentationFormat">
    <vt:lpwstr>On-screen Show (4:3)</vt:lpwstr>
  </property>
  <property fmtid="{D5CDD505-2E9C-101B-9397-08002B2CF9AE}" pid="8" name="Slides">
    <vt:i4>2</vt:i4>
  </property>
  <property fmtid="{D5CDD505-2E9C-101B-9397-08002B2CF9AE}" pid="9" name="TemplateUrl">
    <vt:lpwstr/>
  </property>
  <property fmtid="{D5CDD505-2E9C-101B-9397-08002B2CF9AE}" pid="10" name="TriggerFlowInfo">
    <vt:lpwstr/>
  </property>
  <property fmtid="{D5CDD505-2E9C-101B-9397-08002B2CF9AE}" pid="11" name="_ExtendedDescription">
    <vt:lpwstr/>
  </property>
  <property fmtid="{D5CDD505-2E9C-101B-9397-08002B2CF9AE}" pid="12" name="xd_ProgID">
    <vt:lpwstr/>
  </property>
  <property fmtid="{D5CDD505-2E9C-101B-9397-08002B2CF9AE}" pid="13" name="xd_Signature">
    <vt:bool>0</vt:bool>
  </property>
</Properties>
</file>